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</p:sldIdLst>
  <p:sldSz cy="6858000" cx="12192000"/>
  <p:notesSz cx="6858000" cy="9144000"/>
  <p:embeddedFontLst>
    <p:embeddedFont>
      <p:font typeface="Poppins"/>
      <p:bold r:id="rId45"/>
      <p:boldItalic r:id="rId46"/>
    </p:embeddedFont>
    <p:embeddedFont>
      <p:font typeface="Poppins Light"/>
      <p:regular r:id="rId47"/>
      <p:bold r:id="rId48"/>
      <p:italic r:id="rId49"/>
      <p:boldItalic r:id="rId50"/>
    </p:embeddedFont>
    <p:embeddedFont>
      <p:font typeface="Poppins SemiBold"/>
      <p:regular r:id="rId51"/>
      <p:bold r:id="rId52"/>
      <p:italic r:id="rId53"/>
      <p:boldItalic r:id="rId54"/>
    </p:embeddedFont>
    <p:embeddedFont>
      <p:font typeface="Poppins ExtraLight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9" roundtripDataSignature="AMtx7mg9Lub53utldIM7a3a/0gPREFmt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font" Target="fonts/Poppins-boldItalic.fntdata"/><Relationship Id="rId45" Type="http://schemas.openxmlformats.org/officeDocument/2006/relationships/font" Target="fonts/Poppi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PoppinsLight-bold.fntdata"/><Relationship Id="rId47" Type="http://schemas.openxmlformats.org/officeDocument/2006/relationships/font" Target="fonts/PoppinsLight-regular.fntdata"/><Relationship Id="rId49" Type="http://schemas.openxmlformats.org/officeDocument/2006/relationships/font" Target="fonts/PoppinsLigh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PoppinsSemiBold-regular.fntdata"/><Relationship Id="rId50" Type="http://schemas.openxmlformats.org/officeDocument/2006/relationships/font" Target="fonts/PoppinsLight-boldItalic.fntdata"/><Relationship Id="rId53" Type="http://schemas.openxmlformats.org/officeDocument/2006/relationships/font" Target="fonts/PoppinsSemiBold-italic.fntdata"/><Relationship Id="rId52" Type="http://schemas.openxmlformats.org/officeDocument/2006/relationships/font" Target="fonts/PoppinsSemiBold-bold.fntdata"/><Relationship Id="rId11" Type="http://schemas.openxmlformats.org/officeDocument/2006/relationships/slide" Target="slides/slide7.xml"/><Relationship Id="rId55" Type="http://schemas.openxmlformats.org/officeDocument/2006/relationships/font" Target="fonts/PoppinsExtraLight-regular.fntdata"/><Relationship Id="rId10" Type="http://schemas.openxmlformats.org/officeDocument/2006/relationships/slide" Target="slides/slide6.xml"/><Relationship Id="rId54" Type="http://schemas.openxmlformats.org/officeDocument/2006/relationships/font" Target="fonts/PoppinsSemiBold-boldItalic.fntdata"/><Relationship Id="rId13" Type="http://schemas.openxmlformats.org/officeDocument/2006/relationships/slide" Target="slides/slide9.xml"/><Relationship Id="rId57" Type="http://schemas.openxmlformats.org/officeDocument/2006/relationships/font" Target="fonts/PoppinsExtraLight-italic.fntdata"/><Relationship Id="rId12" Type="http://schemas.openxmlformats.org/officeDocument/2006/relationships/slide" Target="slides/slide8.xml"/><Relationship Id="rId56" Type="http://schemas.openxmlformats.org/officeDocument/2006/relationships/font" Target="fonts/PoppinsExtraLight-bold.fntdata"/><Relationship Id="rId15" Type="http://schemas.openxmlformats.org/officeDocument/2006/relationships/slide" Target="slides/slide11.xml"/><Relationship Id="rId59" Type="http://customschemas.google.com/relationships/presentationmetadata" Target="metadata"/><Relationship Id="rId14" Type="http://schemas.openxmlformats.org/officeDocument/2006/relationships/slide" Target="slides/slide10.xml"/><Relationship Id="rId58" Type="http://schemas.openxmlformats.org/officeDocument/2006/relationships/font" Target="fonts/PoppinsExtraLight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5cfaf56cc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f5cfaf56cc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5cfaf56cc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f5cfaf56cc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5cfaf56cc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f5cfaf56cc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5cfaf56cc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f5cfaf56cc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5cfaf56cc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f5cfaf56cc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5cfaf56cc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f5cfaf56cc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5cfaf56cc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f5cfaf56cc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5cfaf56cc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f5cfaf56cc_0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5cfaf56cc_0_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f5cfaf56cc_0_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5cfaf56cc_0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f5cfaf56cc_0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5cfaf56cc_0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f5cfaf56cc_0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5cfaf56cc_0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f5cfaf56cc_0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5cfaf56cc_0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f5cfaf56cc_0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5cfaf56cc_0_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f5cfaf56cc_0_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5cfaf56cc_0_1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f5cfaf56cc_0_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5cfaf56cc_0_1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f5cfaf56cc_0_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5cfaf56cc_0_1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f5cfaf56cc_0_1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5cfaf56cc_0_1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f5cfaf56cc_0_1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5cfaf56cc_0_1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f5cfaf56cc_0_1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5cfaf56cc_0_1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f5cfaf56cc_0_1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f5cfaf56cc_0_1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f5cfaf56cc_0_1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f5cfaf56cc_0_1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f5cfaf56cc_0_1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f5cfaf56cc_0_1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f5cfaf56cc_0_1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f5cfaf56cc_0_1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f5cfaf56cc_0_1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f5d31186fe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f5d31186fe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f5d31186fe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f5d31186fe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f5d31186fe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3f5d31186fe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5d31186fe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f5d31186fe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f5d31186fe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f5d31186fe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f5d31186fe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f5d31186fe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f5d31186fe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f5d31186fe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f5d31186fe_0_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f5d31186fe_0_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f5d31186fe_0_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3f5d31186fe_0_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f5d31186fe_0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3f5d31186fe_0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f5d31186fe_0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f5d31186fe_0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f5d31186fe_0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f5d31186fe_0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f5d31186fe_0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g3f5d31186fe_0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 Principal">
  <p:cSld name="Capa Principa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5"/>
          <p:cNvSpPr txBox="1"/>
          <p:nvPr>
            <p:ph type="title"/>
          </p:nvPr>
        </p:nvSpPr>
        <p:spPr>
          <a:xfrm>
            <a:off x="1400175" y="3067050"/>
            <a:ext cx="9838748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b="1" i="0" sz="4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5"/>
          <p:cNvSpPr txBox="1"/>
          <p:nvPr>
            <p:ph idx="1" type="body"/>
          </p:nvPr>
        </p:nvSpPr>
        <p:spPr>
          <a:xfrm>
            <a:off x="1400175" y="4638722"/>
            <a:ext cx="9838748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lide Título e texto">
  <p:cSld name="1_Slide Título e text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6"/>
          <p:cNvSpPr txBox="1"/>
          <p:nvPr>
            <p:ph idx="1" type="subTitle"/>
          </p:nvPr>
        </p:nvSpPr>
        <p:spPr>
          <a:xfrm>
            <a:off x="969034" y="1468581"/>
            <a:ext cx="10292001" cy="4442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A0A0A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A0A0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15" name="Google Shape;15;p6"/>
          <p:cNvSpPr txBox="1"/>
          <p:nvPr>
            <p:ph idx="2" type="body"/>
          </p:nvPr>
        </p:nvSpPr>
        <p:spPr>
          <a:xfrm>
            <a:off x="969035" y="704850"/>
            <a:ext cx="8327366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 Final">
  <p:cSld name="Capa Fina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lide Texto e Imagem">
  <p:cSld name="2_Slide Texto e Image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idx="1" type="subTitle"/>
          </p:nvPr>
        </p:nvSpPr>
        <p:spPr>
          <a:xfrm>
            <a:off x="969034" y="692989"/>
            <a:ext cx="5302457" cy="52182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A0A0A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A0A0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19" name="Google Shape;19;p8"/>
          <p:cNvSpPr/>
          <p:nvPr>
            <p:ph idx="2" type="pic"/>
          </p:nvPr>
        </p:nvSpPr>
        <p:spPr>
          <a:xfrm>
            <a:off x="6522460" y="1468581"/>
            <a:ext cx="4718978" cy="4442691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Slide Título, Texto e Imagem">
  <p:cSld name="3_Slide Título, Texto e Image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9"/>
          <p:cNvSpPr txBox="1"/>
          <p:nvPr>
            <p:ph idx="1" type="subTitle"/>
          </p:nvPr>
        </p:nvSpPr>
        <p:spPr>
          <a:xfrm>
            <a:off x="969034" y="1468581"/>
            <a:ext cx="5302457" cy="4442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A0A0A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A0A0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22" name="Google Shape;22;p9"/>
          <p:cNvSpPr/>
          <p:nvPr>
            <p:ph idx="2" type="pic"/>
          </p:nvPr>
        </p:nvSpPr>
        <p:spPr>
          <a:xfrm>
            <a:off x="6522460" y="1468581"/>
            <a:ext cx="4718978" cy="4442691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9"/>
          <p:cNvSpPr txBox="1"/>
          <p:nvPr>
            <p:ph idx="3" type="body"/>
          </p:nvPr>
        </p:nvSpPr>
        <p:spPr>
          <a:xfrm>
            <a:off x="969035" y="704850"/>
            <a:ext cx="8327366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Slide Título+Texto">
  <p:cSld name="4_Slide Título+Text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960438" y="1468438"/>
            <a:ext cx="10280650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26" name="Google Shape;26;p10"/>
          <p:cNvSpPr txBox="1"/>
          <p:nvPr>
            <p:ph idx="2" type="body"/>
          </p:nvPr>
        </p:nvSpPr>
        <p:spPr>
          <a:xfrm>
            <a:off x="960439" y="676275"/>
            <a:ext cx="7735886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Slide Texto e Imagem">
  <p:cSld name="5_Slide Texto e Image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idx="1" type="subTitle"/>
          </p:nvPr>
        </p:nvSpPr>
        <p:spPr>
          <a:xfrm>
            <a:off x="886691" y="1191491"/>
            <a:ext cx="5283200" cy="5043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202020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29" name="Google Shape;29;p11"/>
          <p:cNvSpPr/>
          <p:nvPr>
            <p:ph idx="2" type="pic"/>
          </p:nvPr>
        </p:nvSpPr>
        <p:spPr>
          <a:xfrm>
            <a:off x="6898844" y="1579563"/>
            <a:ext cx="4368800" cy="465455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Slide Título, Texto e Imagem">
  <p:cSld name="6_Slide Título, Texto e Image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/>
          <p:nvPr>
            <p:ph idx="2" type="pic"/>
          </p:nvPr>
        </p:nvSpPr>
        <p:spPr>
          <a:xfrm>
            <a:off x="6898844" y="1828367"/>
            <a:ext cx="4368800" cy="4405746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12"/>
          <p:cNvSpPr txBox="1"/>
          <p:nvPr>
            <p:ph idx="1" type="subTitle"/>
          </p:nvPr>
        </p:nvSpPr>
        <p:spPr>
          <a:xfrm>
            <a:off x="886691" y="1828799"/>
            <a:ext cx="5283200" cy="4405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33" name="Google Shape;33;p12"/>
          <p:cNvSpPr txBox="1"/>
          <p:nvPr>
            <p:ph idx="3" type="body"/>
          </p:nvPr>
        </p:nvSpPr>
        <p:spPr>
          <a:xfrm>
            <a:off x="887413" y="1171575"/>
            <a:ext cx="5283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1" i="0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1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Slide Texto, Imagem e Legenda">
  <p:cSld name="7_Slide Texto, Imagem e Legend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3"/>
          <p:cNvSpPr txBox="1"/>
          <p:nvPr>
            <p:ph idx="1" type="subTitle"/>
          </p:nvPr>
        </p:nvSpPr>
        <p:spPr>
          <a:xfrm>
            <a:off x="886691" y="1191491"/>
            <a:ext cx="5283200" cy="5043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36" name="Google Shape;36;p13"/>
          <p:cNvSpPr/>
          <p:nvPr>
            <p:ph idx="2" type="pic"/>
          </p:nvPr>
        </p:nvSpPr>
        <p:spPr>
          <a:xfrm>
            <a:off x="6898844" y="1579563"/>
            <a:ext cx="4368800" cy="3685164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13"/>
          <p:cNvSpPr txBox="1"/>
          <p:nvPr>
            <p:ph idx="3" type="body"/>
          </p:nvPr>
        </p:nvSpPr>
        <p:spPr>
          <a:xfrm>
            <a:off x="6899275" y="5619750"/>
            <a:ext cx="4368800" cy="614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Slide Título, Texto, Imagem e Legenda">
  <p:cSld name="8_Slide Título, Texto, Imagem e Legend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/>
          <p:nvPr>
            <p:ph idx="1" type="subTitle"/>
          </p:nvPr>
        </p:nvSpPr>
        <p:spPr>
          <a:xfrm>
            <a:off x="886691" y="1828799"/>
            <a:ext cx="5283200" cy="4405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40" name="Google Shape;40;p14"/>
          <p:cNvSpPr/>
          <p:nvPr>
            <p:ph idx="2" type="pic"/>
          </p:nvPr>
        </p:nvSpPr>
        <p:spPr>
          <a:xfrm>
            <a:off x="6898844" y="1828799"/>
            <a:ext cx="4368800" cy="3435928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14"/>
          <p:cNvSpPr txBox="1"/>
          <p:nvPr>
            <p:ph idx="3" type="body"/>
          </p:nvPr>
        </p:nvSpPr>
        <p:spPr>
          <a:xfrm>
            <a:off x="6899275" y="5610225"/>
            <a:ext cx="4368800" cy="623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42" name="Google Shape;42;p14"/>
          <p:cNvSpPr txBox="1"/>
          <p:nvPr>
            <p:ph idx="4" type="body"/>
          </p:nvPr>
        </p:nvSpPr>
        <p:spPr>
          <a:xfrm>
            <a:off x="887413" y="1181100"/>
            <a:ext cx="52832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Slide Imagens e Legendas">
  <p:cSld name="9_Slide Imagens e Legenda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5"/>
          <p:cNvSpPr/>
          <p:nvPr>
            <p:ph idx="2" type="pic"/>
          </p:nvPr>
        </p:nvSpPr>
        <p:spPr>
          <a:xfrm>
            <a:off x="913986" y="1466850"/>
            <a:ext cx="5027949" cy="3631407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15"/>
          <p:cNvSpPr/>
          <p:nvPr>
            <p:ph idx="3" type="pic"/>
          </p:nvPr>
        </p:nvSpPr>
        <p:spPr>
          <a:xfrm>
            <a:off x="6409523" y="1466849"/>
            <a:ext cx="4839101" cy="3631407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5"/>
          <p:cNvSpPr txBox="1"/>
          <p:nvPr>
            <p:ph idx="1" type="body"/>
          </p:nvPr>
        </p:nvSpPr>
        <p:spPr>
          <a:xfrm>
            <a:off x="914401" y="5394325"/>
            <a:ext cx="5027950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47" name="Google Shape;47;p15"/>
          <p:cNvSpPr txBox="1"/>
          <p:nvPr>
            <p:ph idx="4" type="body"/>
          </p:nvPr>
        </p:nvSpPr>
        <p:spPr>
          <a:xfrm>
            <a:off x="6409522" y="5387974"/>
            <a:ext cx="4839102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48" name="Google Shape;48;p15"/>
          <p:cNvSpPr txBox="1"/>
          <p:nvPr>
            <p:ph idx="5" type="body"/>
          </p:nvPr>
        </p:nvSpPr>
        <p:spPr>
          <a:xfrm>
            <a:off x="913986" y="781050"/>
            <a:ext cx="10334638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Slide Imagens e Legendas">
  <p:cSld name="10_Slide Imagens e Legenda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/>
          <p:nvPr>
            <p:ph idx="2" type="pic"/>
          </p:nvPr>
        </p:nvSpPr>
        <p:spPr>
          <a:xfrm>
            <a:off x="914401" y="793750"/>
            <a:ext cx="3297670" cy="4304507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6"/>
          <p:cNvSpPr/>
          <p:nvPr>
            <p:ph idx="3" type="pic"/>
          </p:nvPr>
        </p:nvSpPr>
        <p:spPr>
          <a:xfrm>
            <a:off x="4447165" y="800893"/>
            <a:ext cx="3297670" cy="4304507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16"/>
          <p:cNvSpPr/>
          <p:nvPr>
            <p:ph idx="4" type="pic"/>
          </p:nvPr>
        </p:nvSpPr>
        <p:spPr>
          <a:xfrm>
            <a:off x="7951369" y="793749"/>
            <a:ext cx="3297670" cy="4304507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6"/>
          <p:cNvSpPr txBox="1"/>
          <p:nvPr>
            <p:ph idx="1" type="body"/>
          </p:nvPr>
        </p:nvSpPr>
        <p:spPr>
          <a:xfrm>
            <a:off x="914400" y="5394325"/>
            <a:ext cx="3297671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54" name="Google Shape;54;p16"/>
          <p:cNvSpPr txBox="1"/>
          <p:nvPr>
            <p:ph idx="5" type="body"/>
          </p:nvPr>
        </p:nvSpPr>
        <p:spPr>
          <a:xfrm>
            <a:off x="4446747" y="5387974"/>
            <a:ext cx="3297671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55" name="Google Shape;55;p16"/>
          <p:cNvSpPr txBox="1"/>
          <p:nvPr>
            <p:ph idx="6" type="body"/>
          </p:nvPr>
        </p:nvSpPr>
        <p:spPr>
          <a:xfrm>
            <a:off x="7950952" y="5387974"/>
            <a:ext cx="3297671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Slide Título, Imagens e Legendas">
  <p:cSld name="11_Slide Título, Imagens e Legenda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"/>
          <p:cNvSpPr/>
          <p:nvPr>
            <p:ph idx="2" type="pic"/>
          </p:nvPr>
        </p:nvSpPr>
        <p:spPr>
          <a:xfrm>
            <a:off x="914401" y="1373982"/>
            <a:ext cx="3297670" cy="372427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7"/>
          <p:cNvSpPr/>
          <p:nvPr>
            <p:ph idx="3" type="pic"/>
          </p:nvPr>
        </p:nvSpPr>
        <p:spPr>
          <a:xfrm>
            <a:off x="4447165" y="1381125"/>
            <a:ext cx="3297670" cy="3724275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17"/>
          <p:cNvSpPr/>
          <p:nvPr>
            <p:ph idx="4" type="pic"/>
          </p:nvPr>
        </p:nvSpPr>
        <p:spPr>
          <a:xfrm>
            <a:off x="7951369" y="1373981"/>
            <a:ext cx="3297670" cy="372427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7"/>
          <p:cNvSpPr txBox="1"/>
          <p:nvPr>
            <p:ph idx="1" type="body"/>
          </p:nvPr>
        </p:nvSpPr>
        <p:spPr>
          <a:xfrm>
            <a:off x="914400" y="5394325"/>
            <a:ext cx="3297671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61" name="Google Shape;61;p17"/>
          <p:cNvSpPr txBox="1"/>
          <p:nvPr>
            <p:ph idx="5" type="body"/>
          </p:nvPr>
        </p:nvSpPr>
        <p:spPr>
          <a:xfrm>
            <a:off x="4446747" y="5387974"/>
            <a:ext cx="3297671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62" name="Google Shape;62;p17"/>
          <p:cNvSpPr txBox="1"/>
          <p:nvPr>
            <p:ph idx="6" type="body"/>
          </p:nvPr>
        </p:nvSpPr>
        <p:spPr>
          <a:xfrm>
            <a:off x="7950952" y="5387974"/>
            <a:ext cx="3297671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63" name="Google Shape;63;p17"/>
          <p:cNvSpPr txBox="1"/>
          <p:nvPr>
            <p:ph idx="7" type="body"/>
          </p:nvPr>
        </p:nvSpPr>
        <p:spPr>
          <a:xfrm>
            <a:off x="800100" y="762000"/>
            <a:ext cx="104489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Capa Interna 01">
  <p:cSld name="12_Capa Interna 0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8"/>
          <p:cNvSpPr txBox="1"/>
          <p:nvPr>
            <p:ph idx="1" type="body"/>
          </p:nvPr>
        </p:nvSpPr>
        <p:spPr>
          <a:xfrm>
            <a:off x="733425" y="4562475"/>
            <a:ext cx="10725150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66" name="Google Shape;66;p18"/>
          <p:cNvSpPr txBox="1"/>
          <p:nvPr>
            <p:ph idx="2" type="body"/>
          </p:nvPr>
        </p:nvSpPr>
        <p:spPr>
          <a:xfrm>
            <a:off x="733425" y="3752850"/>
            <a:ext cx="1072515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457200" lvl="1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1" i="0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457200" lvl="2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1" i="0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457200" lvl="3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1" i="0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457200" lvl="4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1" i="0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apa Interna 02">
  <p:cSld name="13_Capa Interna 0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9"/>
          <p:cNvSpPr txBox="1"/>
          <p:nvPr>
            <p:ph idx="1" type="body"/>
          </p:nvPr>
        </p:nvSpPr>
        <p:spPr>
          <a:xfrm>
            <a:off x="733425" y="4562475"/>
            <a:ext cx="10725150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69" name="Google Shape;69;p19"/>
          <p:cNvSpPr txBox="1"/>
          <p:nvPr>
            <p:ph idx="2" type="body"/>
          </p:nvPr>
        </p:nvSpPr>
        <p:spPr>
          <a:xfrm>
            <a:off x="733425" y="3762375"/>
            <a:ext cx="107251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Slide Imagem">
  <p:cSld name="14_Slide Image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0"/>
          <p:cNvSpPr/>
          <p:nvPr>
            <p:ph idx="2" type="pic"/>
          </p:nvPr>
        </p:nvSpPr>
        <p:spPr>
          <a:xfrm>
            <a:off x="914400" y="796419"/>
            <a:ext cx="10353111" cy="525549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Slide Imagem e Legenda">
  <p:cSld name="15_Slide Imagem e Legend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/>
          <p:nvPr>
            <p:ph idx="2" type="pic"/>
          </p:nvPr>
        </p:nvSpPr>
        <p:spPr>
          <a:xfrm>
            <a:off x="914400" y="796419"/>
            <a:ext cx="10353111" cy="4337556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21"/>
          <p:cNvSpPr txBox="1"/>
          <p:nvPr>
            <p:ph idx="1" type="body"/>
          </p:nvPr>
        </p:nvSpPr>
        <p:spPr>
          <a:xfrm>
            <a:off x="914400" y="5394325"/>
            <a:ext cx="10353111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Slide Imagens">
  <p:cSld name="16_Slide Image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2"/>
          <p:cNvSpPr/>
          <p:nvPr>
            <p:ph idx="2" type="pic"/>
          </p:nvPr>
        </p:nvSpPr>
        <p:spPr>
          <a:xfrm>
            <a:off x="914401" y="796419"/>
            <a:ext cx="5070763" cy="5255498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22"/>
          <p:cNvSpPr/>
          <p:nvPr>
            <p:ph idx="3" type="pic"/>
          </p:nvPr>
        </p:nvSpPr>
        <p:spPr>
          <a:xfrm>
            <a:off x="6196749" y="796418"/>
            <a:ext cx="5070763" cy="525549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Slide Imagens e Legendas">
  <p:cSld name="17_Slide Imagens e Legenda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/>
          <p:nvPr>
            <p:ph idx="2" type="pic"/>
          </p:nvPr>
        </p:nvSpPr>
        <p:spPr>
          <a:xfrm>
            <a:off x="914401" y="796419"/>
            <a:ext cx="5070764" cy="4489956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3"/>
          <p:cNvSpPr/>
          <p:nvPr>
            <p:ph idx="3" type="pic"/>
          </p:nvPr>
        </p:nvSpPr>
        <p:spPr>
          <a:xfrm>
            <a:off x="6196749" y="796418"/>
            <a:ext cx="5070764" cy="4489956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23"/>
          <p:cNvSpPr txBox="1"/>
          <p:nvPr>
            <p:ph idx="1" type="body"/>
          </p:nvPr>
        </p:nvSpPr>
        <p:spPr>
          <a:xfrm>
            <a:off x="914400" y="5524500"/>
            <a:ext cx="5070475" cy="527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82" name="Google Shape;82;p23"/>
          <p:cNvSpPr txBox="1"/>
          <p:nvPr>
            <p:ph idx="4" type="body"/>
          </p:nvPr>
        </p:nvSpPr>
        <p:spPr>
          <a:xfrm>
            <a:off x="6196013" y="5524500"/>
            <a:ext cx="5072062" cy="527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Slide Imagens">
  <p:cSld name="18_Slide Image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4"/>
          <p:cNvSpPr/>
          <p:nvPr>
            <p:ph idx="2" type="pic"/>
          </p:nvPr>
        </p:nvSpPr>
        <p:spPr>
          <a:xfrm>
            <a:off x="914401" y="796419"/>
            <a:ext cx="5070763" cy="5255498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24"/>
          <p:cNvSpPr/>
          <p:nvPr>
            <p:ph idx="3" type="pic"/>
          </p:nvPr>
        </p:nvSpPr>
        <p:spPr>
          <a:xfrm>
            <a:off x="6196749" y="796418"/>
            <a:ext cx="5070763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24"/>
          <p:cNvSpPr/>
          <p:nvPr>
            <p:ph idx="4" type="pic"/>
          </p:nvPr>
        </p:nvSpPr>
        <p:spPr>
          <a:xfrm>
            <a:off x="6196749" y="3507299"/>
            <a:ext cx="5070763" cy="254461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Slide Imagens">
  <p:cSld name="19_Slide Image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5"/>
          <p:cNvSpPr/>
          <p:nvPr>
            <p:ph idx="2" type="pic"/>
          </p:nvPr>
        </p:nvSpPr>
        <p:spPr>
          <a:xfrm>
            <a:off x="6196749" y="796418"/>
            <a:ext cx="5070763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25"/>
          <p:cNvSpPr/>
          <p:nvPr>
            <p:ph idx="3" type="pic"/>
          </p:nvPr>
        </p:nvSpPr>
        <p:spPr>
          <a:xfrm>
            <a:off x="6196749" y="3507299"/>
            <a:ext cx="5070763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25"/>
          <p:cNvSpPr/>
          <p:nvPr>
            <p:ph idx="4" type="pic"/>
          </p:nvPr>
        </p:nvSpPr>
        <p:spPr>
          <a:xfrm>
            <a:off x="914401" y="806083"/>
            <a:ext cx="5070763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25"/>
          <p:cNvSpPr/>
          <p:nvPr>
            <p:ph idx="5" type="pic"/>
          </p:nvPr>
        </p:nvSpPr>
        <p:spPr>
          <a:xfrm>
            <a:off x="914401" y="3516964"/>
            <a:ext cx="5070763" cy="254461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Slide Textos e Imagens">
  <p:cSld name="19_Slide Textos e Image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6"/>
          <p:cNvSpPr/>
          <p:nvPr>
            <p:ph idx="2" type="pic"/>
          </p:nvPr>
        </p:nvSpPr>
        <p:spPr>
          <a:xfrm>
            <a:off x="1009650" y="2647951"/>
            <a:ext cx="4791639" cy="3413632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26"/>
          <p:cNvSpPr txBox="1"/>
          <p:nvPr>
            <p:ph idx="1" type="body"/>
          </p:nvPr>
        </p:nvSpPr>
        <p:spPr>
          <a:xfrm>
            <a:off x="924489" y="796419"/>
            <a:ext cx="4961961" cy="1451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95" name="Google Shape;95;p26"/>
          <p:cNvSpPr/>
          <p:nvPr>
            <p:ph idx="3" type="pic"/>
          </p:nvPr>
        </p:nvSpPr>
        <p:spPr>
          <a:xfrm>
            <a:off x="6390711" y="2647951"/>
            <a:ext cx="4791639" cy="3413632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26"/>
          <p:cNvSpPr txBox="1"/>
          <p:nvPr>
            <p:ph idx="4" type="body"/>
          </p:nvPr>
        </p:nvSpPr>
        <p:spPr>
          <a:xfrm>
            <a:off x="6305550" y="796419"/>
            <a:ext cx="4961961" cy="1451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Slide Título, Textos e Imagens">
  <p:cSld name="20_Slide Título, Textos e Image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7"/>
          <p:cNvSpPr/>
          <p:nvPr>
            <p:ph idx="2" type="pic"/>
          </p:nvPr>
        </p:nvSpPr>
        <p:spPr>
          <a:xfrm>
            <a:off x="1009650" y="2647951"/>
            <a:ext cx="4791639" cy="3413632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27"/>
          <p:cNvSpPr txBox="1"/>
          <p:nvPr>
            <p:ph idx="1" type="body"/>
          </p:nvPr>
        </p:nvSpPr>
        <p:spPr>
          <a:xfrm>
            <a:off x="924489" y="1452563"/>
            <a:ext cx="4961961" cy="895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100" name="Google Shape;100;p27"/>
          <p:cNvSpPr/>
          <p:nvPr>
            <p:ph idx="3" type="pic"/>
          </p:nvPr>
        </p:nvSpPr>
        <p:spPr>
          <a:xfrm>
            <a:off x="6390711" y="2647951"/>
            <a:ext cx="4791639" cy="3413632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27"/>
          <p:cNvSpPr txBox="1"/>
          <p:nvPr>
            <p:ph idx="4" type="body"/>
          </p:nvPr>
        </p:nvSpPr>
        <p:spPr>
          <a:xfrm>
            <a:off x="6305550" y="1452563"/>
            <a:ext cx="4961961" cy="895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102" name="Google Shape;102;p27"/>
          <p:cNvSpPr txBox="1"/>
          <p:nvPr>
            <p:ph idx="5" type="body"/>
          </p:nvPr>
        </p:nvSpPr>
        <p:spPr>
          <a:xfrm>
            <a:off x="828675" y="762000"/>
            <a:ext cx="104394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Slide Imagens">
  <p:cSld name="21_Slide Image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8"/>
          <p:cNvSpPr/>
          <p:nvPr>
            <p:ph idx="2" type="pic"/>
          </p:nvPr>
        </p:nvSpPr>
        <p:spPr>
          <a:xfrm>
            <a:off x="914401" y="796419"/>
            <a:ext cx="5070763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28"/>
          <p:cNvSpPr/>
          <p:nvPr>
            <p:ph idx="3" type="pic"/>
          </p:nvPr>
        </p:nvSpPr>
        <p:spPr>
          <a:xfrm>
            <a:off x="6196749" y="796418"/>
            <a:ext cx="5070763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28"/>
          <p:cNvSpPr/>
          <p:nvPr>
            <p:ph idx="4" type="pic"/>
          </p:nvPr>
        </p:nvSpPr>
        <p:spPr>
          <a:xfrm>
            <a:off x="932874" y="3507300"/>
            <a:ext cx="3297670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8"/>
          <p:cNvSpPr/>
          <p:nvPr>
            <p:ph idx="5" type="pic"/>
          </p:nvPr>
        </p:nvSpPr>
        <p:spPr>
          <a:xfrm>
            <a:off x="4465638" y="3514443"/>
            <a:ext cx="3297670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8"/>
          <p:cNvSpPr/>
          <p:nvPr>
            <p:ph idx="6" type="pic"/>
          </p:nvPr>
        </p:nvSpPr>
        <p:spPr>
          <a:xfrm>
            <a:off x="7969842" y="3507299"/>
            <a:ext cx="3297670" cy="254461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Slide Imagens">
  <p:cSld name="22_Slide Image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9"/>
          <p:cNvSpPr/>
          <p:nvPr>
            <p:ph idx="2" type="pic"/>
          </p:nvPr>
        </p:nvSpPr>
        <p:spPr>
          <a:xfrm>
            <a:off x="914401" y="796419"/>
            <a:ext cx="3297670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29"/>
          <p:cNvSpPr/>
          <p:nvPr>
            <p:ph idx="3" type="pic"/>
          </p:nvPr>
        </p:nvSpPr>
        <p:spPr>
          <a:xfrm>
            <a:off x="4447165" y="803562"/>
            <a:ext cx="3297670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29"/>
          <p:cNvSpPr/>
          <p:nvPr>
            <p:ph idx="4" type="pic"/>
          </p:nvPr>
        </p:nvSpPr>
        <p:spPr>
          <a:xfrm>
            <a:off x="7951369" y="796418"/>
            <a:ext cx="3297670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29"/>
          <p:cNvSpPr/>
          <p:nvPr>
            <p:ph idx="5" type="pic"/>
          </p:nvPr>
        </p:nvSpPr>
        <p:spPr>
          <a:xfrm>
            <a:off x="932874" y="3507300"/>
            <a:ext cx="3297670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9"/>
          <p:cNvSpPr/>
          <p:nvPr>
            <p:ph idx="6" type="pic"/>
          </p:nvPr>
        </p:nvSpPr>
        <p:spPr>
          <a:xfrm>
            <a:off x="4465638" y="3514443"/>
            <a:ext cx="3297670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29"/>
          <p:cNvSpPr/>
          <p:nvPr>
            <p:ph idx="7" type="pic"/>
          </p:nvPr>
        </p:nvSpPr>
        <p:spPr>
          <a:xfrm>
            <a:off x="7969842" y="3507299"/>
            <a:ext cx="3297670" cy="254461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7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mailto:wagner.perin@ufes.br" TargetMode="External"/><Relationship Id="rId4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"/>
          <p:cNvSpPr txBox="1"/>
          <p:nvPr>
            <p:ph idx="1" type="subTitle"/>
          </p:nvPr>
        </p:nvSpPr>
        <p:spPr>
          <a:xfrm>
            <a:off x="969034" y="1468581"/>
            <a:ext cx="10292001" cy="4442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Char char="●"/>
            </a:pPr>
            <a:r>
              <a:rPr b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Disciplina: </a:t>
            </a:r>
            <a:r>
              <a:rPr lang="pt-BR">
                <a:solidFill>
                  <a:srgbClr val="202020"/>
                </a:solidFill>
              </a:rPr>
              <a:t>PLN e Sistemas de Recuperação de Informação</a:t>
            </a:r>
            <a:endParaRPr>
              <a:solidFill>
                <a:srgbClr val="202020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Char char="●"/>
            </a:pPr>
            <a:r>
              <a:rPr b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Curso: </a:t>
            </a:r>
            <a:r>
              <a:rPr lang="pt-BR">
                <a:solidFill>
                  <a:srgbClr val="202020"/>
                </a:solidFill>
              </a:rPr>
              <a:t>Graduação em Ciência de Dados para Negócios</a:t>
            </a:r>
            <a:endParaRPr>
              <a:solidFill>
                <a:srgbClr val="202020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Char char="●"/>
            </a:pPr>
            <a:r>
              <a:rPr b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Carga Horária: </a:t>
            </a:r>
            <a:r>
              <a:rPr lang="pt-BR">
                <a:solidFill>
                  <a:srgbClr val="202020"/>
                </a:solidFill>
              </a:rPr>
              <a:t>64 h/a</a:t>
            </a:r>
            <a:endParaRPr>
              <a:solidFill>
                <a:srgbClr val="202020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Char char="●"/>
            </a:pPr>
            <a:r>
              <a:rPr b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Semestre: </a:t>
            </a:r>
            <a:r>
              <a:rPr lang="pt-BR">
                <a:solidFill>
                  <a:srgbClr val="202020"/>
                </a:solidFill>
              </a:rPr>
              <a:t>2026/2</a:t>
            </a:r>
            <a:endParaRPr>
              <a:solidFill>
                <a:srgbClr val="202020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Char char="●"/>
            </a:pPr>
            <a:r>
              <a:rPr b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Horário das Aulas: </a:t>
            </a:r>
            <a:r>
              <a:rPr lang="pt-BR">
                <a:solidFill>
                  <a:srgbClr val="202020"/>
                </a:solidFill>
              </a:rPr>
              <a:t>Terça e Quinta (11h30 às 13h)</a:t>
            </a:r>
            <a:endParaRPr>
              <a:solidFill>
                <a:srgbClr val="202020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Char char="●"/>
            </a:pPr>
            <a:r>
              <a:rPr b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e-Mail: </a:t>
            </a:r>
            <a:r>
              <a:rPr b="1" lang="pt-BR" u="sng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wagner.perin@ufes.br</a:t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Ementa</a:t>
            </a:r>
            <a:endParaRPr b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Poppins"/>
              <a:buChar char="●"/>
            </a:pPr>
            <a:r>
              <a:rPr b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Indexação: </a:t>
            </a:r>
            <a:r>
              <a:rPr lang="pt-BR">
                <a:solidFill>
                  <a:srgbClr val="202020"/>
                </a:solidFill>
              </a:rPr>
              <a:t>Índices invertidos e listas invertidas, compressão de texto, outros tipos de índices.</a:t>
            </a:r>
            <a:endParaRPr>
              <a:solidFill>
                <a:srgbClr val="202020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Char char="●"/>
            </a:pPr>
            <a:r>
              <a:rPr b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Modelagem: </a:t>
            </a:r>
            <a:r>
              <a:rPr lang="pt-BR">
                <a:solidFill>
                  <a:srgbClr val="202020"/>
                </a:solidFill>
              </a:rPr>
              <a:t>Modelos de RI, modelos clássicos de RI, modelos algébricos alternativos, modelos probabilísticos alternativos, redes de inferência.</a:t>
            </a:r>
            <a:endParaRPr>
              <a:solidFill>
                <a:srgbClr val="202020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Char char="●"/>
            </a:pPr>
            <a:r>
              <a:rPr b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Avaliação da Recuperação: </a:t>
            </a:r>
            <a:r>
              <a:rPr lang="pt-BR">
                <a:solidFill>
                  <a:srgbClr val="202020"/>
                </a:solidFill>
              </a:rPr>
              <a:t>Precisão e revocação, coleções de referência.</a:t>
            </a:r>
            <a:endParaRPr>
              <a:solidFill>
                <a:srgbClr val="202020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Char char="●"/>
            </a:pPr>
            <a:r>
              <a:rPr b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Consultas: </a:t>
            </a:r>
            <a:r>
              <a:rPr lang="pt-BR">
                <a:solidFill>
                  <a:srgbClr val="202020"/>
                </a:solidFill>
              </a:rPr>
              <a:t>Consultas lógicas, consultas ordenadas por relevância, estruturas de acesso ao vocabulário, busca sequencial no vocabulário, busca exata e aproximada.</a:t>
            </a:r>
            <a:endParaRPr>
              <a:solidFill>
                <a:srgbClr val="202020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Char char="●"/>
            </a:pPr>
            <a:r>
              <a:rPr b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Sistemas de Informação para a Web</a:t>
            </a:r>
            <a:r>
              <a:rPr lang="pt-BR">
                <a:solidFill>
                  <a:srgbClr val="202020"/>
                </a:solidFill>
              </a:rPr>
              <a:t>: Mecanismos de busca, indexação, consultas, interfaces. Folksonomias e estratégias de recuperação em redes Sociais.</a:t>
            </a:r>
            <a:endParaRPr>
              <a:solidFill>
                <a:srgbClr val="202020"/>
              </a:solidFill>
            </a:endParaRPr>
          </a:p>
        </p:txBody>
      </p:sp>
      <p:sp>
        <p:nvSpPr>
          <p:cNvPr id="125" name="Google Shape;125;p2"/>
          <p:cNvSpPr txBox="1"/>
          <p:nvPr>
            <p:ph idx="2" type="body"/>
          </p:nvPr>
        </p:nvSpPr>
        <p:spPr>
          <a:xfrm>
            <a:off x="969035" y="704850"/>
            <a:ext cx="8327366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Apresentação</a:t>
            </a:r>
            <a:endParaRPr sz="2200">
              <a:solidFill>
                <a:srgbClr val="B41B26"/>
              </a:solidFill>
            </a:endParaRPr>
          </a:p>
        </p:txBody>
      </p:sp>
      <p:pic>
        <p:nvPicPr>
          <p:cNvPr id="126" name="Google Shape;126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22748" y="1209675"/>
            <a:ext cx="2077525" cy="200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5cfaf56cc_0_3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Objetivos</a:t>
            </a:r>
            <a:endParaRPr b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Char char="●"/>
            </a:pPr>
            <a:r>
              <a:rPr lang="pt-BR">
                <a:solidFill>
                  <a:srgbClr val="202020"/>
                </a:solidFill>
              </a:rPr>
              <a:t>Compreender os sistemas de informação para web.</a:t>
            </a:r>
            <a:endParaRPr>
              <a:solidFill>
                <a:srgbClr val="202020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Char char="●"/>
            </a:pPr>
            <a:r>
              <a:rPr lang="pt-BR">
                <a:solidFill>
                  <a:srgbClr val="202020"/>
                </a:solidFill>
              </a:rPr>
              <a:t>Analisar, compreender e aplicar mecanismos de busca e indexação.</a:t>
            </a:r>
            <a:endParaRPr>
              <a:solidFill>
                <a:srgbClr val="202020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Char char="●"/>
            </a:pPr>
            <a:r>
              <a:rPr lang="pt-BR">
                <a:solidFill>
                  <a:srgbClr val="202020"/>
                </a:solidFill>
              </a:rPr>
              <a:t>Construir indicadores e quantificar relações de redes sociais.</a:t>
            </a:r>
            <a:endParaRPr>
              <a:solidFill>
                <a:srgbClr val="202020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Char char="●"/>
            </a:pPr>
            <a:r>
              <a:rPr lang="pt-BR">
                <a:solidFill>
                  <a:srgbClr val="202020"/>
                </a:solidFill>
              </a:rPr>
              <a:t>Desenvolver soluções de recuperação de informação focadas em negócios e análise de dados.</a:t>
            </a:r>
            <a:endParaRPr>
              <a:solidFill>
                <a:srgbClr val="202020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Char char="●"/>
            </a:pPr>
            <a:r>
              <a:rPr lang="pt-BR">
                <a:solidFill>
                  <a:srgbClr val="202020"/>
                </a:solidFill>
              </a:rPr>
              <a:t>Avaliar algoritmos e modelos clássicos, algébricos e probabilísticos para recuperação de informações textuais e de redes.</a:t>
            </a:r>
            <a:endParaRPr>
              <a:solidFill>
                <a:srgbClr val="20202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f5cfaf56cc_0_3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Apresentação</a:t>
            </a:r>
            <a:endParaRPr sz="2200">
              <a:solidFill>
                <a:srgbClr val="B41B26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5cfaf56cc_0_10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Sistema de Avaliação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f5cfaf56cc_0_10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Apresentação</a:t>
            </a:r>
            <a:endParaRPr sz="2200">
              <a:solidFill>
                <a:srgbClr val="B41B26"/>
              </a:solidFill>
            </a:endParaRPr>
          </a:p>
        </p:txBody>
      </p:sp>
      <p:pic>
        <p:nvPicPr>
          <p:cNvPr id="139" name="Google Shape;139;g3f5cfaf56cc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0787" y="1982300"/>
            <a:ext cx="5190424" cy="392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5cfaf56cc_0_16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Sistema de Avaliação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f5cfaf56cc_0_16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Apresentação</a:t>
            </a:r>
            <a:endParaRPr sz="2200">
              <a:solidFill>
                <a:srgbClr val="B41B26"/>
              </a:solidFill>
            </a:endParaRPr>
          </a:p>
        </p:txBody>
      </p:sp>
      <p:pic>
        <p:nvPicPr>
          <p:cNvPr id="146" name="Google Shape;146;g3f5cfaf56cc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0787" y="1982300"/>
            <a:ext cx="5190424" cy="392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"/>
          <p:cNvSpPr txBox="1"/>
          <p:nvPr>
            <p:ph type="title"/>
          </p:nvPr>
        </p:nvSpPr>
        <p:spPr>
          <a:xfrm>
            <a:off x="1400175" y="2790825"/>
            <a:ext cx="9838800" cy="12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</a:pPr>
            <a:r>
              <a:rPr lang="pt-BR" sz="4200">
                <a:solidFill>
                  <a:srgbClr val="202020"/>
                </a:solidFill>
              </a:rPr>
              <a:t>PLN e Sistemas de Recuperação de Informação</a:t>
            </a:r>
            <a:endParaRPr sz="4200">
              <a:solidFill>
                <a:srgbClr val="202020"/>
              </a:solidFill>
            </a:endParaRPr>
          </a:p>
        </p:txBody>
      </p:sp>
      <p:sp>
        <p:nvSpPr>
          <p:cNvPr id="152" name="Google Shape;152;p1"/>
          <p:cNvSpPr txBox="1"/>
          <p:nvPr>
            <p:ph idx="1" type="body"/>
          </p:nvPr>
        </p:nvSpPr>
        <p:spPr>
          <a:xfrm>
            <a:off x="1400200" y="4067322"/>
            <a:ext cx="98388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pt-BR" sz="2100">
                <a:solidFill>
                  <a:srgbClr val="202020"/>
                </a:solidFill>
              </a:rPr>
              <a:t>Aula 01 - Introdução à Recuperação de Informação (RI) e Sistemas WEB</a:t>
            </a:r>
            <a:endParaRPr sz="2000">
              <a:solidFill>
                <a:srgbClr val="202020"/>
              </a:solidFill>
            </a:endParaRPr>
          </a:p>
        </p:txBody>
      </p:sp>
      <p:sp>
        <p:nvSpPr>
          <p:cNvPr id="153" name="Google Shape;153;p1"/>
          <p:cNvSpPr txBox="1"/>
          <p:nvPr>
            <p:ph idx="1" type="body"/>
          </p:nvPr>
        </p:nvSpPr>
        <p:spPr>
          <a:xfrm>
            <a:off x="1400200" y="5963822"/>
            <a:ext cx="98388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pt-BR" sz="2100">
                <a:solidFill>
                  <a:srgbClr val="202020"/>
                </a:solidFill>
              </a:rPr>
              <a:t>Prof. Dr. Wagner de A. Perin</a:t>
            </a:r>
            <a:endParaRPr sz="2000">
              <a:solidFill>
                <a:srgbClr val="20202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5cfaf56cc_0_28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Problema Investigado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O mecanismo de busca interno do nosso e-commerce está gerando uma perda direta de 20% no faturamento mensal por não compreender buscas com pequenos erros de digitação ou uso de sinônimos.</a:t>
            </a:r>
            <a:endParaRPr/>
          </a:p>
        </p:txBody>
      </p:sp>
      <p:sp>
        <p:nvSpPr>
          <p:cNvPr id="159" name="Google Shape;159;g3f5cfaf56cc_0_28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A Dor de Negócio no E-commerce</a:t>
            </a:r>
            <a:endParaRPr sz="2200">
              <a:solidFill>
                <a:srgbClr val="B41B26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5cfaf56cc_0_40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Problema Investigado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O mecanismo de busca interno do nosso e-commerce está gerando uma perda direta de 20% no faturamento mensal por não compreender buscas com pequenos erros de digitação ou uso de sinônimos.</a:t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Dilemas e Questões para Discussão: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pt-BR"/>
              <a:t>Por que um cliente que busca ‘</a:t>
            </a:r>
            <a:r>
              <a:rPr i="1" lang="pt-BR"/>
              <a:t>calsa</a:t>
            </a:r>
            <a:r>
              <a:rPr lang="pt-BR"/>
              <a:t>’ abandona o site ao receber zero resultados?</a:t>
            </a:r>
            <a:endParaRPr/>
          </a:p>
        </p:txBody>
      </p:sp>
      <p:sp>
        <p:nvSpPr>
          <p:cNvPr id="165" name="Google Shape;165;g3f5cfaf56cc_0_40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A Dor de Negócio no E-commerce</a:t>
            </a:r>
            <a:endParaRPr sz="2200">
              <a:solidFill>
                <a:srgbClr val="B41B26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5cfaf56cc_0_35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Problema Investigado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O mecanismo de busca interno do nosso e-commerce está gerando uma perda direta de 20% no faturamento mensal por não compreender buscas com pequenos erros de digitação ou uso de sinônimos.</a:t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Dilemas e Questões para Discussão: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pt-BR"/>
              <a:t>Por que um cliente que busca ‘</a:t>
            </a:r>
            <a:r>
              <a:rPr i="1" lang="pt-BR"/>
              <a:t>calsa</a:t>
            </a:r>
            <a:r>
              <a:rPr lang="pt-BR"/>
              <a:t>’ abandona o site ao receber zero resultados?</a:t>
            </a:r>
            <a:endParaRPr/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pt-BR"/>
              <a:t>Quanto custa para o negócio cada </a:t>
            </a:r>
            <a:r>
              <a:rPr i="1" lang="pt-BR"/>
              <a:t>100ms </a:t>
            </a:r>
            <a:r>
              <a:rPr lang="pt-BR"/>
              <a:t>de atraso no retorno de uma busca?</a:t>
            </a:r>
            <a:endParaRPr/>
          </a:p>
        </p:txBody>
      </p:sp>
      <p:sp>
        <p:nvSpPr>
          <p:cNvPr id="171" name="Google Shape;171;g3f5cfaf56cc_0_35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A Dor de Negócio no E-commerce</a:t>
            </a:r>
            <a:endParaRPr sz="2200">
              <a:solidFill>
                <a:srgbClr val="B41B26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5cfaf56cc_0_45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Problema Investigado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O mecanismo de busca interno do nosso e-commerce está gerando uma perda direta de 20% no faturamento mensal por não compreender buscas com pequenos erros de digitação ou uso de sinônimos.</a:t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Dilemas e Questões para Discussão: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pt-BR"/>
              <a:t>Por que um cliente que busca ‘</a:t>
            </a:r>
            <a:r>
              <a:rPr i="1" lang="pt-BR"/>
              <a:t>calsa</a:t>
            </a:r>
            <a:r>
              <a:rPr lang="pt-BR"/>
              <a:t>’ abandona o site ao receber zero resultados?</a:t>
            </a:r>
            <a:endParaRPr/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pt-BR"/>
              <a:t>Quanto custa para o negócio cada </a:t>
            </a:r>
            <a:r>
              <a:rPr i="1" lang="pt-BR"/>
              <a:t>100ms </a:t>
            </a:r>
            <a:r>
              <a:rPr lang="pt-BR"/>
              <a:t>de atraso no retorno de uma busca?</a:t>
            </a:r>
            <a:endParaRPr/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pt-BR"/>
              <a:t>Como o algoritmo de busca atual afeta a percepção da marca e a taxa de conversão?</a:t>
            </a:r>
            <a:endParaRPr/>
          </a:p>
        </p:txBody>
      </p:sp>
      <p:sp>
        <p:nvSpPr>
          <p:cNvPr id="177" name="Google Shape;177;g3f5cfaf56cc_0_45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A Dor de Negócio no E-commerce</a:t>
            </a:r>
            <a:endParaRPr sz="2200">
              <a:solidFill>
                <a:srgbClr val="B41B26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5cfaf56cc_0_71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f5cfaf56cc_0_71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O Custo Oculto da Ineficiência</a:t>
            </a:r>
            <a:endParaRPr sz="2200">
              <a:solidFill>
                <a:srgbClr val="B41B26"/>
              </a:solidFill>
            </a:endParaRPr>
          </a:p>
        </p:txBody>
      </p:sp>
      <p:pic>
        <p:nvPicPr>
          <p:cNvPr id="184" name="Google Shape;184;g3f5cfaf56cc_0_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4500" y="1257000"/>
            <a:ext cx="4922995" cy="4865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5cfaf56cc_0_82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f5cfaf56cc_0_82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O Custo Oculto da Ineficiência</a:t>
            </a:r>
            <a:endParaRPr sz="2200">
              <a:solidFill>
                <a:srgbClr val="B41B26"/>
              </a:solidFill>
            </a:endParaRPr>
          </a:p>
        </p:txBody>
      </p:sp>
      <p:pic>
        <p:nvPicPr>
          <p:cNvPr id="191" name="Google Shape;191;g3f5cfaf56cc_0_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5475" y="1209750"/>
            <a:ext cx="6919200" cy="48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5cfaf56cc_0_61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Problema Investigado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Clientes gastam em média 3 segundos na barra de busca antes de desistirem se não houver preenchimento automático (autocomplete) ou correção ortográfica.</a:t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f5cfaf56cc_0_61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O Custo Oculto da Ineficiência</a:t>
            </a:r>
            <a:endParaRPr sz="2200">
              <a:solidFill>
                <a:srgbClr val="B41B26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5cfaf56cc_0_56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Problema Investigado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Clientes gastam em média 3 segundos na barra de busca antes de desistirem se não houver preenchimento automático (autocomplete) ou correção ortográfica.</a:t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Questões para Discussão: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pt-BR"/>
              <a:t>Se o produto existe no estoque, de quem é a culpa pela não conversão: do usuário que digitou errado ou do sistema?</a:t>
            </a:r>
            <a:endParaRPr/>
          </a:p>
        </p:txBody>
      </p:sp>
      <p:sp>
        <p:nvSpPr>
          <p:cNvPr id="203" name="Google Shape;203;g3f5cfaf56cc_0_56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O Custo Oculto da Ineficiência</a:t>
            </a:r>
            <a:endParaRPr sz="2200">
              <a:solidFill>
                <a:srgbClr val="B41B26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5cfaf56cc_0_66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Problema Investigado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Clientes gastam em média 3 segundos na barra de busca antes de desistirem se não houver preenchimento automático (autocomplete) ou correção ortográfica.</a:t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Questões para Discussão: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pt-BR"/>
              <a:t>Se o produto existe no estoque, de quem é a culpa pela não conversão: do usuário que digitou errado ou do sistema?</a:t>
            </a:r>
            <a:endParaRPr/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pt-BR"/>
              <a:t>O que acontece se o cliente pesquisa por um termo genérico, como "presente para o dia dos pais"?</a:t>
            </a:r>
            <a:endParaRPr/>
          </a:p>
        </p:txBody>
      </p:sp>
      <p:sp>
        <p:nvSpPr>
          <p:cNvPr id="209" name="Google Shape;209;g3f5cfaf56cc_0_66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O Custo Oculto da Ineficiência</a:t>
            </a:r>
            <a:endParaRPr sz="2200">
              <a:solidFill>
                <a:srgbClr val="B41B26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5cfaf56cc_0_92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Problema Investigado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A equipe de TI sugere que a busca seja resolvida apenas adicionando comandos SQL diretos na base de produtos, subestimando a complexidade da linguagem humana.</a:t>
            </a:r>
            <a:endParaRPr/>
          </a:p>
        </p:txBody>
      </p:sp>
      <p:sp>
        <p:nvSpPr>
          <p:cNvPr id="215" name="Google Shape;215;g3f5cfaf56cc_0_92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A Solução Ingênua com SGBDs Relacionais</a:t>
            </a:r>
            <a:endParaRPr sz="2200">
              <a:solidFill>
                <a:srgbClr val="B41B26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5cfaf56cc_0_98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Problema Investigado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A equipe de TI sugere que a busca seja resolvida apenas adicionando comandos SQL diretos na base de produtos, subestimando a complexidade da linguagem humana.</a:t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Questões para Discussão: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pt-BR"/>
              <a:t>Bancos de dados relacionais foram projetados para buscar palavras incompletas em grandes volumes de texto?</a:t>
            </a:r>
            <a:endParaRPr/>
          </a:p>
        </p:txBody>
      </p:sp>
      <p:sp>
        <p:nvSpPr>
          <p:cNvPr id="221" name="Google Shape;221;g3f5cfaf56cc_0_98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A Solução Ingênua com SGBDs Relacionais</a:t>
            </a:r>
            <a:endParaRPr sz="2200">
              <a:solidFill>
                <a:srgbClr val="B41B26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5cfaf56cc_0_103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Problema Investigado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A equipe de TI sugere que a busca seja resolvida apenas adicionando comandos SQL diretos na base de produtos, subestimando a complexidade da linguagem humana.</a:t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Questões para Discussão: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pt-BR"/>
              <a:t>Bancos de dados relacionais foram projetados para buscar palavras incompletas em grandes volumes de texto?</a:t>
            </a:r>
            <a:endParaRPr/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pt-BR"/>
              <a:t>Qual a diferença fundamental entre buscar o ID exato de um produto e buscar sua relevância textual?</a:t>
            </a:r>
            <a:endParaRPr/>
          </a:p>
        </p:txBody>
      </p:sp>
      <p:sp>
        <p:nvSpPr>
          <p:cNvPr id="227" name="Google Shape;227;g3f5cfaf56cc_0_103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A Solução Ingênua com SGBDs Relacionais</a:t>
            </a:r>
            <a:endParaRPr sz="2200">
              <a:solidFill>
                <a:srgbClr val="B41B26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5cfaf56cc_0_114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A limitação do comando SQL clássico: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Principais Gargalos:</a:t>
            </a:r>
            <a:endParaRPr/>
          </a:p>
        </p:txBody>
      </p:sp>
      <p:sp>
        <p:nvSpPr>
          <p:cNvPr id="233" name="Google Shape;233;g3f5cfaf56cc_0_114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Por que a busca por banco de dados tradicional (SQL) falha?</a:t>
            </a:r>
            <a:endParaRPr sz="2200">
              <a:solidFill>
                <a:srgbClr val="B41B26"/>
              </a:solidFill>
            </a:endParaRPr>
          </a:p>
        </p:txBody>
      </p:sp>
      <p:pic>
        <p:nvPicPr>
          <p:cNvPr id="234" name="Google Shape;234;g3f5cfaf56cc_0_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0575" y="1864875"/>
            <a:ext cx="7195850" cy="92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5cfaf56cc_0_108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A limitação do comando SQL clássico: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Principais Gargalos</a:t>
            </a: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pt-BR">
                <a:latin typeface="Poppins"/>
                <a:ea typeface="Poppins"/>
                <a:cs typeface="Poppins"/>
                <a:sym typeface="Poppins"/>
              </a:rPr>
              <a:t>Semântica Nula</a:t>
            </a:r>
            <a:r>
              <a:rPr lang="pt-BR"/>
              <a:t>: Não reconhece que "notebook" e "laptop" são o mesmo produto.</a:t>
            </a:r>
            <a:endParaRPr/>
          </a:p>
        </p:txBody>
      </p:sp>
      <p:sp>
        <p:nvSpPr>
          <p:cNvPr id="240" name="Google Shape;240;g3f5cfaf56cc_0_108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Por que a busca por banco de dados tradicional (SQL) falha?</a:t>
            </a:r>
            <a:endParaRPr sz="2200">
              <a:solidFill>
                <a:srgbClr val="B41B26"/>
              </a:solidFill>
            </a:endParaRPr>
          </a:p>
        </p:txBody>
      </p:sp>
      <p:pic>
        <p:nvPicPr>
          <p:cNvPr id="241" name="Google Shape;241;g3f5cfaf56cc_0_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0575" y="1864875"/>
            <a:ext cx="7195850" cy="92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5cfaf56cc_0_120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A limitação do comando SQL clássico: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Principais Gargalos: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pt-BR">
                <a:latin typeface="Poppins"/>
                <a:ea typeface="Poppins"/>
                <a:cs typeface="Poppins"/>
                <a:sym typeface="Poppins"/>
              </a:rPr>
              <a:t>Semântica Nula</a:t>
            </a:r>
            <a:r>
              <a:rPr lang="pt-BR"/>
              <a:t>: Não reconhece que "notebook" e "laptop" são o mesmo produto.</a:t>
            </a:r>
            <a:endParaRPr/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pt-BR">
                <a:latin typeface="Poppins"/>
                <a:ea typeface="Poppins"/>
                <a:cs typeface="Poppins"/>
                <a:sym typeface="Poppins"/>
              </a:rPr>
              <a:t>Incapacidade de Tolerância a Falhas</a:t>
            </a:r>
            <a:r>
              <a:rPr lang="pt-BR"/>
              <a:t>: Erros de digitação zeram o resultado.</a:t>
            </a:r>
            <a:endParaRPr/>
          </a:p>
        </p:txBody>
      </p:sp>
      <p:sp>
        <p:nvSpPr>
          <p:cNvPr id="247" name="Google Shape;247;g3f5cfaf56cc_0_120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Por que a busca por banco de dados tradicional (SQL) falha?</a:t>
            </a:r>
            <a:endParaRPr sz="2200">
              <a:solidFill>
                <a:srgbClr val="B41B26"/>
              </a:solidFill>
            </a:endParaRPr>
          </a:p>
        </p:txBody>
      </p:sp>
      <p:pic>
        <p:nvPicPr>
          <p:cNvPr id="248" name="Google Shape;248;g3f5cfaf56cc_0_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0575" y="1864875"/>
            <a:ext cx="7195850" cy="92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5cfaf56cc_0_126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A limitação do comando SQL clássico: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Principais Gargalos: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pt-BR">
                <a:latin typeface="Poppins"/>
                <a:ea typeface="Poppins"/>
                <a:cs typeface="Poppins"/>
                <a:sym typeface="Poppins"/>
              </a:rPr>
              <a:t>Semântica Nula</a:t>
            </a:r>
            <a:r>
              <a:rPr lang="pt-BR"/>
              <a:t>: Não reconhece que "notebook" e "laptop" são o mesmo produto.</a:t>
            </a:r>
            <a:endParaRPr/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pt-BR">
                <a:latin typeface="Poppins"/>
                <a:ea typeface="Poppins"/>
                <a:cs typeface="Poppins"/>
                <a:sym typeface="Poppins"/>
              </a:rPr>
              <a:t>Incapacidade de Tolerância a Falhas</a:t>
            </a:r>
            <a:r>
              <a:rPr lang="pt-BR"/>
              <a:t>: Erros de digitação zeram o resultado.</a:t>
            </a:r>
            <a:endParaRPr/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pt-BR">
                <a:latin typeface="Poppins"/>
                <a:ea typeface="Poppins"/>
                <a:cs typeface="Poppins"/>
                <a:sym typeface="Poppins"/>
              </a:rPr>
              <a:t>Escalabilidade Crítica</a:t>
            </a:r>
            <a:r>
              <a:rPr lang="pt-BR"/>
              <a:t>: O operador 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LIKE '%...%'</a:t>
            </a:r>
            <a:r>
              <a:rPr lang="pt-BR"/>
              <a:t> força um </a:t>
            </a:r>
            <a:r>
              <a:rPr i="1" lang="pt-BR"/>
              <a:t>Full Table Scan (</a:t>
            </a:r>
            <a:r>
              <a:rPr b="1" i="1" lang="pt-BR">
                <a:latin typeface="Poppins"/>
                <a:ea typeface="Poppins"/>
                <a:cs typeface="Poppins"/>
                <a:sym typeface="Poppins"/>
              </a:rPr>
              <a:t>O(N)</a:t>
            </a:r>
            <a:r>
              <a:rPr i="1" lang="pt-BR"/>
              <a:t>),</a:t>
            </a:r>
            <a:r>
              <a:rPr lang="pt-BR"/>
              <a:t> inviabilizando bases com milhões de itens.</a:t>
            </a:r>
            <a:endParaRPr/>
          </a:p>
        </p:txBody>
      </p:sp>
      <p:sp>
        <p:nvSpPr>
          <p:cNvPr id="254" name="Google Shape;254;g3f5cfaf56cc_0_126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Por que a busca por banco de dados tradicional (SQL) falha?</a:t>
            </a:r>
            <a:endParaRPr sz="2200">
              <a:solidFill>
                <a:srgbClr val="B41B26"/>
              </a:solidFill>
            </a:endParaRPr>
          </a:p>
        </p:txBody>
      </p:sp>
      <p:pic>
        <p:nvPicPr>
          <p:cNvPr id="255" name="Google Shape;255;g3f5cfaf56cc_0_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0575" y="1864875"/>
            <a:ext cx="7195850" cy="92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5cfaf56cc_0_150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Problema Investigado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Como estruturar informações de forma que o computador consiga "entender" a intenção do usuário além da sintaxe exata da palavra?</a:t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1" name="Google Shape;261;g3f5cfaf56cc_0_150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O Paradigma de Recuperação da Informação (RI)</a:t>
            </a:r>
            <a:endParaRPr sz="2200">
              <a:solidFill>
                <a:srgbClr val="B41B26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5cfaf56cc_0_155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Problema Investigado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Como estruturar informações de forma que o computador consiga "entender" a intenção do usuário além da sintaxe exata da palavra?</a:t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Definição: </a:t>
            </a:r>
            <a:r>
              <a:rPr b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Recuperação de Informação (RI) </a:t>
            </a:r>
            <a:r>
              <a:rPr lang="pt-BR">
                <a:solidFill>
                  <a:srgbClr val="202020"/>
                </a:solidFill>
              </a:rPr>
              <a:t>é a ciência de buscar documentos (textos, imagens, vídeos, etc) por conteúdo, dentro de grandes coleções não estruturadas, visando satisfazer uma necessidade de informação do usuário.</a:t>
            </a:r>
            <a:endParaRPr>
              <a:solidFill>
                <a:srgbClr val="202020"/>
              </a:solidFill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020"/>
              </a:solidFill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020"/>
              </a:solidFill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Discussão da Turma: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Poppins Light"/>
              <a:buChar char="●"/>
            </a:pPr>
            <a:r>
              <a:rPr lang="pt-BR">
                <a:solidFill>
                  <a:srgbClr val="202020"/>
                </a:solidFill>
              </a:rPr>
              <a:t>Quais são os principais sistemas de RI que vocês usam todos os dias?</a:t>
            </a:r>
            <a:endParaRPr>
              <a:solidFill>
                <a:srgbClr val="202020"/>
              </a:solidFill>
            </a:endParaRPr>
          </a:p>
        </p:txBody>
      </p:sp>
      <p:sp>
        <p:nvSpPr>
          <p:cNvPr id="267" name="Google Shape;267;g3f5cfaf56cc_0_155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O Paradigma de Recuperação da Informação (RI)</a:t>
            </a:r>
            <a:endParaRPr sz="2200">
              <a:solidFill>
                <a:srgbClr val="B41B26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5cfaf56cc_0_160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SGBD Clássico vs. RI Moderno</a:t>
            </a:r>
            <a:endParaRPr sz="2200">
              <a:solidFill>
                <a:srgbClr val="B41B26"/>
              </a:solidFill>
            </a:endParaRPr>
          </a:p>
        </p:txBody>
      </p:sp>
      <p:pic>
        <p:nvPicPr>
          <p:cNvPr id="273" name="Google Shape;273;g3f5cfaf56cc_0_1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750" y="1747750"/>
            <a:ext cx="11736750" cy="384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f5cfaf56cc_0_166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Arquitetura de um Motor de Busca Web</a:t>
            </a:r>
            <a:endParaRPr sz="2200">
              <a:solidFill>
                <a:srgbClr val="B41B26"/>
              </a:solidFill>
            </a:endParaRPr>
          </a:p>
        </p:txBody>
      </p:sp>
      <p:pic>
        <p:nvPicPr>
          <p:cNvPr id="279" name="Google Shape;279;g3f5cfaf56cc_0_1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43180" y="0"/>
            <a:ext cx="254882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g3f5cfaf56cc_0_166"/>
          <p:cNvSpPr txBox="1"/>
          <p:nvPr>
            <p:ph idx="1" type="subTitle"/>
          </p:nvPr>
        </p:nvSpPr>
        <p:spPr>
          <a:xfrm>
            <a:off x="969023" y="1468575"/>
            <a:ext cx="8624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marR="156428" rtl="0" algn="just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500"/>
              <a:buFont typeface="Poppins Light"/>
              <a:buChar char="●"/>
            </a:pPr>
            <a:r>
              <a:rPr b="1" lang="pt-BR" sz="15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Normalização</a:t>
            </a:r>
            <a:r>
              <a:rPr lang="pt-BR" sz="1500">
                <a:solidFill>
                  <a:srgbClr val="202020"/>
                </a:solidFill>
              </a:rPr>
              <a:t>: Processo de padronização do texto (como conversão para minúsculas, remoção de acentos e pontuação) para garantir consistência antes da indexação ou busca.</a:t>
            </a:r>
            <a:endParaRPr sz="1500">
              <a:solidFill>
                <a:srgbClr val="202020"/>
              </a:solidFill>
            </a:endParaRPr>
          </a:p>
          <a:p>
            <a:pPr indent="-317500" lvl="1" marL="914400" marR="156428" rtl="0" algn="just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400"/>
              <a:buFont typeface="Poppins Light"/>
              <a:buChar char="○"/>
            </a:pPr>
            <a:r>
              <a:rPr b="1" lang="pt-BR" sz="14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Stemming</a:t>
            </a:r>
            <a:r>
              <a:rPr lang="pt-BR" sz="1400">
                <a:solidFill>
                  <a:srgbClr val="202020"/>
                </a:solidFill>
              </a:rPr>
              <a:t>: Redução de palavras ao seu radical (</a:t>
            </a:r>
            <a:r>
              <a:rPr i="1" lang="pt-BR" sz="1400">
                <a:solidFill>
                  <a:srgbClr val="202020"/>
                </a:solidFill>
              </a:rPr>
              <a:t>stem</a:t>
            </a:r>
            <a:r>
              <a:rPr lang="pt-BR" sz="1400">
                <a:solidFill>
                  <a:srgbClr val="202020"/>
                </a:solidFill>
              </a:rPr>
              <a:t>) através da remoção de sufixos e prefixos, agrupando termos com o mesmo significado base.</a:t>
            </a:r>
            <a:endParaRPr sz="1400">
              <a:solidFill>
                <a:srgbClr val="202020"/>
              </a:solidFill>
            </a:endParaRPr>
          </a:p>
          <a:p>
            <a:pPr indent="-323850" lvl="0" marL="457200" marR="156428" rtl="0" algn="just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500"/>
              <a:buFont typeface="Poppins Light"/>
              <a:buChar char="●"/>
            </a:pPr>
            <a:r>
              <a:rPr b="1" lang="pt-BR" sz="15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Verificação de Correção</a:t>
            </a:r>
            <a:r>
              <a:rPr lang="pt-BR" sz="1500">
                <a:solidFill>
                  <a:srgbClr val="202020"/>
                </a:solidFill>
              </a:rPr>
              <a:t>: Etapa que identifica e corrige erros ortográficos ou sugere alternativas (correção de </a:t>
            </a:r>
            <a:r>
              <a:rPr i="1" lang="pt-BR" sz="1500">
                <a:solidFill>
                  <a:srgbClr val="202020"/>
                </a:solidFill>
              </a:rPr>
              <a:t>typos</a:t>
            </a:r>
            <a:r>
              <a:rPr lang="pt-BR" sz="1500">
                <a:solidFill>
                  <a:srgbClr val="202020"/>
                </a:solidFill>
              </a:rPr>
              <a:t>) para evitar falhas na recuperação de documentos.</a:t>
            </a:r>
            <a:endParaRPr sz="1500">
              <a:solidFill>
                <a:srgbClr val="202020"/>
              </a:solidFill>
            </a:endParaRPr>
          </a:p>
          <a:p>
            <a:pPr indent="-323850" lvl="0" marL="457200" marR="156428" rtl="0" algn="just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500"/>
              <a:buFont typeface="Poppins Light"/>
              <a:buChar char="●"/>
            </a:pPr>
            <a:r>
              <a:rPr b="1" lang="pt-BR" sz="15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Consulta a Índice Invertido</a:t>
            </a:r>
            <a:r>
              <a:rPr lang="pt-BR" sz="1500">
                <a:solidFill>
                  <a:srgbClr val="202020"/>
                </a:solidFill>
              </a:rPr>
              <a:t>: Operação de busca na estrutura de dados mapeada (que associa termos aos documentos onde ocorrem) para recuperar rapidamente os registros correspondentes aos termos da busca.</a:t>
            </a:r>
            <a:endParaRPr sz="1500">
              <a:solidFill>
                <a:srgbClr val="202020"/>
              </a:solidFill>
            </a:endParaRPr>
          </a:p>
          <a:p>
            <a:pPr indent="-323850" lvl="0" marL="457200" marR="156428" rtl="0" algn="just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500"/>
              <a:buFont typeface="Poppins Light"/>
              <a:buChar char="●"/>
            </a:pPr>
            <a:r>
              <a:rPr b="1" lang="pt-BR" sz="15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Cálculo de Relevância</a:t>
            </a:r>
            <a:r>
              <a:rPr lang="pt-BR" sz="1500">
                <a:solidFill>
                  <a:srgbClr val="202020"/>
                </a:solidFill>
              </a:rPr>
              <a:t>: Avaliação matemática (utilizando métricas como </a:t>
            </a:r>
            <a:r>
              <a:rPr i="1" lang="pt-BR" sz="1500">
                <a:solidFill>
                  <a:srgbClr val="202020"/>
                </a:solidFill>
              </a:rPr>
              <a:t>TF-IDF</a:t>
            </a:r>
            <a:r>
              <a:rPr lang="pt-BR" sz="1500">
                <a:solidFill>
                  <a:srgbClr val="202020"/>
                </a:solidFill>
              </a:rPr>
              <a:t> ou </a:t>
            </a:r>
            <a:r>
              <a:rPr i="1" lang="pt-BR" sz="1500">
                <a:solidFill>
                  <a:srgbClr val="202020"/>
                </a:solidFill>
              </a:rPr>
              <a:t>BM25</a:t>
            </a:r>
            <a:r>
              <a:rPr lang="pt-BR" sz="1500">
                <a:solidFill>
                  <a:srgbClr val="202020"/>
                </a:solidFill>
              </a:rPr>
              <a:t>) do grau de pertinência de cada documento recuperado em relação à consulta do usuário.</a:t>
            </a:r>
            <a:endParaRPr sz="1500">
              <a:solidFill>
                <a:srgbClr val="202020"/>
              </a:solidFill>
            </a:endParaRPr>
          </a:p>
          <a:p>
            <a:pPr indent="-323850" lvl="0" marL="457200" marR="156428" rtl="0" algn="just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500"/>
              <a:buFont typeface="Poppins Light"/>
              <a:buChar char="●"/>
            </a:pPr>
            <a:r>
              <a:rPr b="1" lang="pt-BR" sz="15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Rankeamento</a:t>
            </a:r>
            <a:r>
              <a:rPr lang="pt-BR" sz="1500">
                <a:solidFill>
                  <a:srgbClr val="202020"/>
                </a:solidFill>
              </a:rPr>
              <a:t>: Ordenação dos documentos recuperados com base nos </a:t>
            </a:r>
            <a:r>
              <a:rPr i="1" lang="pt-BR" sz="1500">
                <a:solidFill>
                  <a:srgbClr val="202020"/>
                </a:solidFill>
              </a:rPr>
              <a:t>scores </a:t>
            </a:r>
            <a:r>
              <a:rPr lang="pt-BR" sz="1500">
                <a:solidFill>
                  <a:srgbClr val="202020"/>
                </a:solidFill>
              </a:rPr>
              <a:t>de relevância obtidos, colocando os mais promissores no topo.</a:t>
            </a:r>
            <a:endParaRPr sz="1500">
              <a:solidFill>
                <a:srgbClr val="202020"/>
              </a:solidFill>
            </a:endParaRPr>
          </a:p>
          <a:p>
            <a:pPr indent="-323850" lvl="0" marL="457200" marR="156428" rtl="0" algn="just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500"/>
              <a:buFont typeface="Poppins Light"/>
              <a:buChar char="●"/>
            </a:pPr>
            <a:r>
              <a:rPr b="1" lang="pt-BR" sz="1500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Exibição da SERP</a:t>
            </a:r>
            <a:r>
              <a:rPr lang="pt-BR" sz="1500">
                <a:solidFill>
                  <a:srgbClr val="202020"/>
                </a:solidFill>
              </a:rPr>
              <a:t>: Apresentação final dos resultados organizados (</a:t>
            </a:r>
            <a:r>
              <a:rPr i="1" lang="pt-BR" sz="1500">
                <a:solidFill>
                  <a:srgbClr val="202020"/>
                </a:solidFill>
              </a:rPr>
              <a:t>Search Engine Results Page</a:t>
            </a:r>
            <a:r>
              <a:rPr lang="pt-BR" sz="1500">
                <a:solidFill>
                  <a:srgbClr val="202020"/>
                </a:solidFill>
              </a:rPr>
              <a:t>), contendo títulos, snippets e links para o usuário.</a:t>
            </a:r>
            <a:endParaRPr sz="1500">
              <a:solidFill>
                <a:srgbClr val="20202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5cfaf56cc_0_173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Problema Investigado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O vocabulário humano não é estático. Mudanças regionais, gírias e polissemias (palavras com múltiplos sentidos) confundem sistemas rígidos.</a:t>
            </a:r>
            <a:endParaRPr>
              <a:solidFill>
                <a:srgbClr val="202020"/>
              </a:solidFill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020"/>
              </a:solidFill>
            </a:endParaRPr>
          </a:p>
        </p:txBody>
      </p:sp>
      <p:sp>
        <p:nvSpPr>
          <p:cNvPr id="286" name="Google Shape;286;g3f5cfaf56cc_0_173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O Caos da Linguagem Humana</a:t>
            </a:r>
            <a:endParaRPr sz="2200">
              <a:solidFill>
                <a:srgbClr val="B41B26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f5d31186fe_0_1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Problema Investigado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O vocabulário humano não é estático. Mudanças regionais, gírias e polissemias (palavras com múltiplos sentidos) confundem sistemas rígidos.</a:t>
            </a:r>
            <a:endParaRPr>
              <a:solidFill>
                <a:srgbClr val="202020"/>
              </a:solidFill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020"/>
              </a:solidFill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Dilemas</a:t>
            </a: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Poppins Light"/>
              <a:buChar char="●"/>
            </a:pPr>
            <a:r>
              <a:rPr lang="pt-BR">
                <a:solidFill>
                  <a:srgbClr val="202020"/>
                </a:solidFill>
              </a:rPr>
              <a:t>Se o usuário pesquisa "Manga", ele quer a fruta ou a parte da camisa?</a:t>
            </a:r>
            <a:endParaRPr>
              <a:solidFill>
                <a:srgbClr val="202020"/>
              </a:solidFill>
            </a:endParaRPr>
          </a:p>
        </p:txBody>
      </p:sp>
      <p:sp>
        <p:nvSpPr>
          <p:cNvPr id="292" name="Google Shape;292;g3f5d31186fe_0_1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O Caos da Linguagem Humana</a:t>
            </a:r>
            <a:endParaRPr sz="2200">
              <a:solidFill>
                <a:srgbClr val="B41B26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5d31186fe_0_6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Problema Investigado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O vocabulário humano não é estático. Mudanças regionais, gírias e polissemias (palavras com múltiplos sentidos) confundem sistemas rígidos.</a:t>
            </a:r>
            <a:endParaRPr>
              <a:solidFill>
                <a:srgbClr val="202020"/>
              </a:solidFill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020"/>
              </a:solidFill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Dilemas: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Poppins Light"/>
              <a:buChar char="●"/>
            </a:pPr>
            <a:r>
              <a:rPr lang="pt-BR">
                <a:solidFill>
                  <a:srgbClr val="202020"/>
                </a:solidFill>
              </a:rPr>
              <a:t>Se o usuário pesquisa "Manga", ele quer a fruta ou a parte da camisa?</a:t>
            </a:r>
            <a:endParaRPr>
              <a:solidFill>
                <a:srgbClr val="202020"/>
              </a:solidFill>
            </a:endParaRPr>
          </a:p>
          <a:p>
            <a:pPr indent="-330200" lvl="0" marL="457200" marR="929359" rtl="0" algn="just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Char char="●"/>
            </a:pPr>
            <a:r>
              <a:rPr lang="pt-BR">
                <a:solidFill>
                  <a:srgbClr val="202020"/>
                </a:solidFill>
              </a:rPr>
              <a:t>Como o contexto do </a:t>
            </a:r>
            <a:r>
              <a:rPr i="1" lang="pt-BR">
                <a:solidFill>
                  <a:srgbClr val="202020"/>
                </a:solidFill>
              </a:rPr>
              <a:t>e-commerce</a:t>
            </a:r>
            <a:r>
              <a:rPr lang="pt-BR">
                <a:solidFill>
                  <a:srgbClr val="202020"/>
                </a:solidFill>
              </a:rPr>
              <a:t> pode ajudar a resolver essa ambiguidade?</a:t>
            </a:r>
            <a:endParaRPr>
              <a:solidFill>
                <a:srgbClr val="202020"/>
              </a:solidFill>
            </a:endParaRPr>
          </a:p>
        </p:txBody>
      </p:sp>
      <p:sp>
        <p:nvSpPr>
          <p:cNvPr id="298" name="Google Shape;298;g3f5d31186fe_0_6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O Caos da Linguagem Humana</a:t>
            </a:r>
            <a:endParaRPr sz="2200">
              <a:solidFill>
                <a:srgbClr val="B41B26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f5d31186fe_0_11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Problema Investigado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Queremos comprovar matematicamente e na prática que uma busca sequencial </a:t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O(N) não é viável para sistemas em tempo real.</a:t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020"/>
              </a:solidFill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Objetivos do Laboratório</a:t>
            </a: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Char char="●"/>
            </a:pPr>
            <a:r>
              <a:rPr lang="pt-BR">
                <a:solidFill>
                  <a:srgbClr val="202020"/>
                </a:solidFill>
              </a:rPr>
              <a:t>Construir uma função de busca em Python que procura um termo dentro de uma grande lista de documentos (nossa base de produtos).</a:t>
            </a:r>
            <a:endParaRPr>
              <a:solidFill>
                <a:srgbClr val="202020"/>
              </a:solidFill>
            </a:endParaRPr>
          </a:p>
          <a:p>
            <a:pPr indent="-330200" lvl="0" marL="457200" marR="929359" rtl="0" algn="just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Char char="●"/>
            </a:pPr>
            <a:r>
              <a:rPr lang="pt-BR">
                <a:solidFill>
                  <a:srgbClr val="202020"/>
                </a:solidFill>
              </a:rPr>
              <a:t>Medir o tempo de execução para avaliar a complexidade O(N).</a:t>
            </a:r>
            <a:endParaRPr>
              <a:solidFill>
                <a:srgbClr val="202020"/>
              </a:solidFill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020"/>
              </a:solidFill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Questões à Refletir</a:t>
            </a: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Poppins Light"/>
              <a:buChar char="●"/>
            </a:pPr>
            <a:r>
              <a:rPr lang="pt-BR">
                <a:solidFill>
                  <a:srgbClr val="202020"/>
                </a:solidFill>
              </a:rPr>
              <a:t>O que acontece com o Tempo de execução se a base de produtos dobrar? E se multiplicarmos por 10?</a:t>
            </a:r>
            <a:endParaRPr>
              <a:solidFill>
                <a:srgbClr val="202020"/>
              </a:solidFill>
            </a:endParaRPr>
          </a:p>
          <a:p>
            <a:pPr indent="-330200" lvl="0" marL="457200" marR="929359" rtl="0" algn="just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Poppins Light"/>
              <a:buChar char="●"/>
            </a:pPr>
            <a:r>
              <a:rPr lang="pt-BR">
                <a:solidFill>
                  <a:srgbClr val="202020"/>
                </a:solidFill>
              </a:rPr>
              <a:t>Se tivermos 1.000 usuários realizando buscas simultaneamente, o servidor suporta? Quais as consequências?</a:t>
            </a:r>
            <a:endParaRPr>
              <a:solidFill>
                <a:srgbClr val="202020"/>
              </a:solidFill>
            </a:endParaRPr>
          </a:p>
        </p:txBody>
      </p:sp>
      <p:sp>
        <p:nvSpPr>
          <p:cNvPr id="304" name="Google Shape;304;g3f5d31186fe_0_11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Laboratório: O Desafio da Busca</a:t>
            </a:r>
            <a:endParaRPr sz="2200">
              <a:solidFill>
                <a:srgbClr val="B41B26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f5d31186fe_0_22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Problema Investigado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O crescimento linear do tempo de resposta (Complexidade O(N)) degrada a experiência do usuário, aumentando o abandono de carrinho.</a:t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020"/>
              </a:solidFill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Insights </a:t>
            </a: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do Laboratório: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Char char="●"/>
            </a:pPr>
            <a:r>
              <a:rPr lang="pt-BR">
                <a:solidFill>
                  <a:srgbClr val="202020"/>
                </a:solidFill>
              </a:rPr>
              <a:t>Na busca ingênua, todo novo produto cadastrado deixa a busca um pouquinho mais lenta.</a:t>
            </a:r>
            <a:endParaRPr>
              <a:solidFill>
                <a:srgbClr val="202020"/>
              </a:solidFill>
            </a:endParaRPr>
          </a:p>
          <a:p>
            <a:pPr indent="-330200" lvl="0" marL="457200" marR="929359" rtl="0" algn="just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Char char="●"/>
            </a:pPr>
            <a:r>
              <a:rPr lang="pt-BR">
                <a:solidFill>
                  <a:srgbClr val="202020"/>
                </a:solidFill>
              </a:rPr>
              <a:t>Para uma base do tamanho da </a:t>
            </a:r>
            <a:r>
              <a:rPr b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Amazon </a:t>
            </a:r>
            <a:r>
              <a:rPr lang="pt-BR">
                <a:solidFill>
                  <a:srgbClr val="202020"/>
                </a:solidFill>
              </a:rPr>
              <a:t>ou </a:t>
            </a:r>
            <a:r>
              <a:rPr b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Mercado Livre</a:t>
            </a:r>
            <a:r>
              <a:rPr lang="pt-BR">
                <a:solidFill>
                  <a:srgbClr val="202020"/>
                </a:solidFill>
              </a:rPr>
              <a:t>, uma varredura completa por query custaria milhões de dólares em processamento.</a:t>
            </a:r>
            <a:endParaRPr>
              <a:solidFill>
                <a:srgbClr val="202020"/>
              </a:solidFill>
            </a:endParaRPr>
          </a:p>
        </p:txBody>
      </p:sp>
      <p:sp>
        <p:nvSpPr>
          <p:cNvPr id="310" name="Google Shape;310;g3f5d31186fe_0_22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O Gargalo de Performance</a:t>
            </a:r>
            <a:endParaRPr sz="2200">
              <a:solidFill>
                <a:srgbClr val="B41B26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f5d31186fe_0_28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Problema Investigado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Precisamos de uma maneira onde o tempo de busca seja independente do tamanho da coleção de documentos.</a:t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020"/>
              </a:solidFill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Provocação para a Turma</a:t>
            </a: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Char char="●"/>
            </a:pPr>
            <a:r>
              <a:rPr lang="pt-BR">
                <a:solidFill>
                  <a:srgbClr val="202020"/>
                </a:solidFill>
              </a:rPr>
              <a:t>Como um dicionário físico ou uma enciclopédia nos permite achar uma palavra rapidamente, mesmo contendo milhares de páginas?</a:t>
            </a:r>
            <a:endParaRPr>
              <a:solidFill>
                <a:srgbClr val="202020"/>
              </a:solidFill>
            </a:endParaRPr>
          </a:p>
          <a:p>
            <a:pPr indent="-330200" lvl="0" marL="457200" marR="929359" rtl="0" algn="just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Char char="●"/>
            </a:pPr>
            <a:r>
              <a:rPr lang="pt-BR">
                <a:solidFill>
                  <a:srgbClr val="202020"/>
                </a:solidFill>
              </a:rPr>
              <a:t>Qual é o "</a:t>
            </a:r>
            <a:r>
              <a:rPr i="1" lang="pt-BR">
                <a:solidFill>
                  <a:srgbClr val="202020"/>
                </a:solidFill>
              </a:rPr>
              <a:t>truque</a:t>
            </a:r>
            <a:r>
              <a:rPr lang="pt-BR">
                <a:solidFill>
                  <a:srgbClr val="202020"/>
                </a:solidFill>
              </a:rPr>
              <a:t>" que os editores de livros usam no final do livro?</a:t>
            </a:r>
            <a:endParaRPr>
              <a:solidFill>
                <a:srgbClr val="202020"/>
              </a:solidFill>
            </a:endParaRPr>
          </a:p>
        </p:txBody>
      </p:sp>
      <p:sp>
        <p:nvSpPr>
          <p:cNvPr id="316" name="Google Shape;316;g3f5d31186fe_0_28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A Necessidade de uma Estrutura Alternativa</a:t>
            </a:r>
            <a:endParaRPr sz="2200">
              <a:solidFill>
                <a:srgbClr val="B41B26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f5d31186fe_0_46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>
                <a:solidFill>
                  <a:srgbClr val="202020"/>
                </a:solidFill>
              </a:rPr>
              <a:t>O </a:t>
            </a: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Índice Remissivo</a:t>
            </a:r>
            <a:r>
              <a:rPr i="1" lang="pt-BR">
                <a:solidFill>
                  <a:srgbClr val="202020"/>
                </a:solidFill>
              </a:rPr>
              <a:t> (Índice Invertido): Em vez de perguntar "</a:t>
            </a: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Quais </a:t>
            </a:r>
            <a:r>
              <a:rPr b="1" i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palavras </a:t>
            </a: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este documento tem?</a:t>
            </a:r>
            <a:r>
              <a:rPr i="1" lang="pt-BR">
                <a:solidFill>
                  <a:srgbClr val="202020"/>
                </a:solidFill>
              </a:rPr>
              <a:t>", invertemos a lógica para perguntar "</a:t>
            </a: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Quais documentos contêm esta </a:t>
            </a:r>
            <a:r>
              <a:rPr b="1" i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palavra</a:t>
            </a: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r>
              <a:rPr i="1" lang="pt-BR">
                <a:solidFill>
                  <a:srgbClr val="202020"/>
                </a:solidFill>
              </a:rPr>
              <a:t>"</a:t>
            </a:r>
            <a:endParaRPr i="1">
              <a:solidFill>
                <a:srgbClr val="202020"/>
              </a:solidFill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020"/>
              </a:solidFill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2" name="Google Shape;322;g3f5d31186fe_0_46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O Segredo dos Motores de Busca</a:t>
            </a:r>
            <a:endParaRPr sz="2200">
              <a:solidFill>
                <a:srgbClr val="B41B26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5d31186fe_0_39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>
                <a:solidFill>
                  <a:srgbClr val="202020"/>
                </a:solidFill>
              </a:rPr>
              <a:t>O </a:t>
            </a: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Índice Remissivo</a:t>
            </a:r>
            <a:r>
              <a:rPr i="1" lang="pt-BR">
                <a:solidFill>
                  <a:srgbClr val="202020"/>
                </a:solidFill>
              </a:rPr>
              <a:t> (Índice Invertido): Em vez de perguntar "</a:t>
            </a: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Quais </a:t>
            </a:r>
            <a:r>
              <a:rPr b="1" i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palavras </a:t>
            </a: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este documento tem?</a:t>
            </a:r>
            <a:r>
              <a:rPr i="1" lang="pt-BR">
                <a:solidFill>
                  <a:srgbClr val="202020"/>
                </a:solidFill>
              </a:rPr>
              <a:t>", invertemos a lógica para perguntar "</a:t>
            </a: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Quais documentos contêm esta </a:t>
            </a:r>
            <a:r>
              <a:rPr b="1" i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palavra</a:t>
            </a: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r>
              <a:rPr i="1" lang="pt-BR">
                <a:solidFill>
                  <a:srgbClr val="202020"/>
                </a:solidFill>
              </a:rPr>
              <a:t>"</a:t>
            </a:r>
            <a:endParaRPr i="1">
              <a:solidFill>
                <a:srgbClr val="202020"/>
              </a:solidFill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020"/>
              </a:solidFill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8" name="Google Shape;328;g3f5d31186fe_0_39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O Segredo dos Motores de Busca</a:t>
            </a:r>
            <a:endParaRPr sz="2200">
              <a:solidFill>
                <a:srgbClr val="B41B26"/>
              </a:solidFill>
            </a:endParaRPr>
          </a:p>
        </p:txBody>
      </p:sp>
      <p:pic>
        <p:nvPicPr>
          <p:cNvPr id="329" name="Google Shape;329;g3f5d31186fe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8800" y="2390750"/>
            <a:ext cx="3098199" cy="402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f5d31186fe_0_52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>
                <a:solidFill>
                  <a:srgbClr val="202020"/>
                </a:solidFill>
              </a:rPr>
              <a:t>O </a:t>
            </a: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Índice Remissivo</a:t>
            </a:r>
            <a:r>
              <a:rPr i="1" lang="pt-BR">
                <a:solidFill>
                  <a:srgbClr val="202020"/>
                </a:solidFill>
              </a:rPr>
              <a:t> (Índice Invertido): Em vez de perguntar "</a:t>
            </a: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Quais </a:t>
            </a:r>
            <a:r>
              <a:rPr b="1" i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palavras </a:t>
            </a: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este documento tem?</a:t>
            </a:r>
            <a:r>
              <a:rPr i="1" lang="pt-BR">
                <a:solidFill>
                  <a:srgbClr val="202020"/>
                </a:solidFill>
              </a:rPr>
              <a:t>", invertemos a lógica para perguntar "</a:t>
            </a: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Quais documentos contêm esta </a:t>
            </a:r>
            <a:r>
              <a:rPr b="1" i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palavra</a:t>
            </a: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r>
              <a:rPr i="1" lang="pt-BR">
                <a:solidFill>
                  <a:srgbClr val="202020"/>
                </a:solidFill>
              </a:rPr>
              <a:t>"</a:t>
            </a:r>
            <a:endParaRPr i="1">
              <a:solidFill>
                <a:srgbClr val="202020"/>
              </a:solidFill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020"/>
              </a:solidFill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A Mágica da Complexidade</a:t>
            </a:r>
            <a:r>
              <a:rPr lang="pt-BR">
                <a:solidFill>
                  <a:srgbClr val="202020"/>
                </a:solidFill>
              </a:rPr>
              <a:t>: Ao utilizar Estruturas de Dados como </a:t>
            </a:r>
            <a:r>
              <a:rPr i="1" lang="pt-BR">
                <a:solidFill>
                  <a:srgbClr val="202020"/>
                </a:solidFill>
              </a:rPr>
              <a:t>Hash Maps</a:t>
            </a:r>
            <a:r>
              <a:rPr lang="pt-BR">
                <a:solidFill>
                  <a:srgbClr val="202020"/>
                </a:solidFill>
              </a:rPr>
              <a:t> ou Árvores, o tempo de acesso para encontrar a lista de documentos despenca para próximo de O(1) ou O(logN).</a:t>
            </a:r>
            <a:endParaRPr>
              <a:solidFill>
                <a:srgbClr val="202020"/>
              </a:solidFill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5" name="Google Shape;335;g3f5d31186fe_0_52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O Segredo dos Motores de Busca</a:t>
            </a:r>
            <a:endParaRPr sz="2200">
              <a:solidFill>
                <a:srgbClr val="B41B26"/>
              </a:solidFill>
            </a:endParaRPr>
          </a:p>
        </p:txBody>
      </p:sp>
      <p:pic>
        <p:nvPicPr>
          <p:cNvPr id="336" name="Google Shape;336;g3f5d31186fe_0_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1175" y="3251368"/>
            <a:ext cx="5219951" cy="318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f5d31186fe_0_59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O texto bruto da internet é muito sujo para ser indexado diretamente. Se indexarmos cada variação de uma palavra ("menino", "meninos", "meninões"), o índice ficará gigante e ineficiente.</a:t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020"/>
              </a:solidFill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Questões para Discussão: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Poppins Light"/>
              <a:buChar char="●"/>
            </a:pPr>
            <a:r>
              <a:rPr lang="pt-BR">
                <a:solidFill>
                  <a:srgbClr val="202020"/>
                </a:solidFill>
              </a:rPr>
              <a:t>Devemos indexar palavras como "o", "de", "para"? Por que não?</a:t>
            </a:r>
            <a:endParaRPr>
              <a:solidFill>
                <a:srgbClr val="202020"/>
              </a:solidFill>
            </a:endParaRPr>
          </a:p>
          <a:p>
            <a:pPr indent="-330200" lvl="0" marL="457200" marR="929359" rtl="0" algn="just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Poppins Light"/>
              <a:buChar char="●"/>
            </a:pPr>
            <a:r>
              <a:rPr lang="pt-BR">
                <a:solidFill>
                  <a:srgbClr val="202020"/>
                </a:solidFill>
              </a:rPr>
              <a:t>Como tratar a diferença de letras maiúsculas e minúsculas?</a:t>
            </a:r>
            <a:endParaRPr>
              <a:solidFill>
                <a:srgbClr val="202020"/>
              </a:solidFill>
            </a:endParaRPr>
          </a:p>
          <a:p>
            <a:pPr indent="-330200" lvl="0" marL="457200" marR="929359" rtl="0" algn="just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Poppins Light"/>
              <a:buChar char="●"/>
            </a:pPr>
            <a:r>
              <a:rPr lang="pt-BR">
                <a:solidFill>
                  <a:srgbClr val="202020"/>
                </a:solidFill>
              </a:rPr>
              <a:t>Pontuações e acentos devem importar?</a:t>
            </a:r>
            <a:endParaRPr>
              <a:solidFill>
                <a:srgbClr val="202020"/>
              </a:solidFill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2" name="Google Shape;342;g3f5d31186fe_0_59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Desafios da Construção do Índice</a:t>
            </a:r>
            <a:endParaRPr sz="2200">
              <a:solidFill>
                <a:srgbClr val="B41B26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f5d31186fe_0_65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Entendemos que a busca sequencial falha. Como implementamos, em código, o poderoso motor por trás do Google e Elasticsearch?</a:t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020"/>
              </a:solidFill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Próximos Passos (Semana 02):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AutoNum type="arabicPeriod"/>
            </a:pPr>
            <a:r>
              <a:rPr b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O Pipeline de NLP</a:t>
            </a:r>
            <a:r>
              <a:rPr lang="pt-BR">
                <a:solidFill>
                  <a:srgbClr val="202020"/>
                </a:solidFill>
              </a:rPr>
              <a:t>: Tokenização, Stop Words, e Stemming.</a:t>
            </a:r>
            <a:endParaRPr>
              <a:solidFill>
                <a:srgbClr val="202020"/>
              </a:solidFill>
            </a:endParaRPr>
          </a:p>
          <a:p>
            <a:pPr indent="-330200" lvl="0" marL="457200" marR="929359" rtl="0" algn="just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AutoNum type="arabicPeriod"/>
            </a:pPr>
            <a:r>
              <a:rPr b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Construção do Índice Invertido</a:t>
            </a:r>
            <a:r>
              <a:rPr lang="pt-BR">
                <a:solidFill>
                  <a:srgbClr val="202020"/>
                </a:solidFill>
              </a:rPr>
              <a:t>: Vamos programar do zero em Python o nosso próprio Índice!</a:t>
            </a:r>
            <a:endParaRPr>
              <a:solidFill>
                <a:srgbClr val="202020"/>
              </a:solidFill>
            </a:endParaRPr>
          </a:p>
          <a:p>
            <a:pPr indent="-330200" lvl="0" marL="457200" marR="929359" rtl="0" algn="just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AutoNum type="arabicPeriod"/>
            </a:pPr>
            <a:r>
              <a:rPr b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Rankeamento TF-IDF</a:t>
            </a:r>
            <a:r>
              <a:rPr lang="pt-BR">
                <a:solidFill>
                  <a:srgbClr val="202020"/>
                </a:solidFill>
              </a:rPr>
              <a:t>: Como decidir qual documento é o mais importante e deve aparecer primeiro.</a:t>
            </a:r>
            <a:endParaRPr>
              <a:solidFill>
                <a:srgbClr val="202020"/>
              </a:solidFill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8" name="Google Shape;348;g3f5d31186fe_0_65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Teaser: O que veremos na Semana 02?</a:t>
            </a:r>
            <a:endParaRPr sz="2200">
              <a:solidFill>
                <a:srgbClr val="B41B26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f5d31186fe_0_70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Resumo da Ópera para os Negócios: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AutoNum type="arabicPeriod"/>
            </a:pPr>
            <a:r>
              <a:rPr lang="pt-BR">
                <a:solidFill>
                  <a:srgbClr val="202020"/>
                </a:solidFill>
              </a:rPr>
              <a:t>Busca ineficiente é </a:t>
            </a:r>
            <a:r>
              <a:rPr b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dinheiro deixado na mesa</a:t>
            </a:r>
            <a:r>
              <a:rPr lang="pt-BR">
                <a:solidFill>
                  <a:srgbClr val="202020"/>
                </a:solidFill>
              </a:rPr>
              <a:t>.</a:t>
            </a:r>
            <a:endParaRPr>
              <a:solidFill>
                <a:srgbClr val="202020"/>
              </a:solidFill>
            </a:endParaRPr>
          </a:p>
          <a:p>
            <a:pPr indent="-330200" lvl="0" marL="457200" marR="929359" rtl="0" algn="just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AutoNum type="arabicPeriod"/>
            </a:pPr>
            <a:r>
              <a:rPr lang="pt-BR">
                <a:solidFill>
                  <a:srgbClr val="202020"/>
                </a:solidFill>
              </a:rPr>
              <a:t>Banco de dados relacional tradicional (SQL) </a:t>
            </a:r>
            <a:r>
              <a:rPr b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NÃO </a:t>
            </a:r>
            <a:r>
              <a:rPr lang="pt-BR">
                <a:solidFill>
                  <a:srgbClr val="202020"/>
                </a:solidFill>
              </a:rPr>
              <a:t>serve para motores de busca semântica em larga escala.</a:t>
            </a:r>
            <a:endParaRPr>
              <a:solidFill>
                <a:srgbClr val="202020"/>
              </a:solidFill>
            </a:endParaRPr>
          </a:p>
          <a:p>
            <a:pPr indent="-330200" lvl="0" marL="457200" marR="929359" rtl="0" algn="just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AutoNum type="arabicPeriod"/>
            </a:pPr>
            <a:r>
              <a:rPr lang="pt-BR">
                <a:solidFill>
                  <a:srgbClr val="202020"/>
                </a:solidFill>
              </a:rPr>
              <a:t>Precisamos mudar o paradigma tecnológico de </a:t>
            </a:r>
            <a:r>
              <a:rPr b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busca linear</a:t>
            </a:r>
            <a:r>
              <a:rPr lang="pt-BR">
                <a:solidFill>
                  <a:srgbClr val="202020"/>
                </a:solidFill>
              </a:rPr>
              <a:t> para </a:t>
            </a:r>
            <a:r>
              <a:rPr b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sistemas indexados</a:t>
            </a:r>
            <a:r>
              <a:rPr lang="pt-BR">
                <a:solidFill>
                  <a:srgbClr val="202020"/>
                </a:solidFill>
              </a:rPr>
              <a:t> que processam e compreendem </a:t>
            </a: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Linguagem Natural</a:t>
            </a:r>
            <a:r>
              <a:rPr lang="pt-BR">
                <a:solidFill>
                  <a:srgbClr val="202020"/>
                </a:solidFill>
              </a:rPr>
              <a:t>.</a:t>
            </a:r>
            <a:endParaRPr>
              <a:solidFill>
                <a:srgbClr val="202020"/>
              </a:solidFill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Leitura Recomendada: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Poppins Light"/>
              <a:buChar char="●"/>
            </a:pPr>
            <a:r>
              <a:rPr i="1" lang="pt-BR">
                <a:solidFill>
                  <a:srgbClr val="202020"/>
                </a:solidFill>
              </a:rPr>
              <a:t>Introduction to Information Retrieval</a:t>
            </a:r>
            <a:r>
              <a:rPr lang="pt-BR">
                <a:solidFill>
                  <a:srgbClr val="202020"/>
                </a:solidFill>
              </a:rPr>
              <a:t> - Christopher D. Manning (Capítulos 1 e 2).</a:t>
            </a:r>
            <a:endParaRPr>
              <a:solidFill>
                <a:srgbClr val="202020"/>
              </a:solidFill>
            </a:endParaRPr>
          </a:p>
        </p:txBody>
      </p:sp>
      <p:sp>
        <p:nvSpPr>
          <p:cNvPr id="354" name="Google Shape;354;g3f5d31186fe_0_70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Conclusão</a:t>
            </a:r>
            <a:endParaRPr sz="2200">
              <a:solidFill>
                <a:srgbClr val="B41B26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f5d31186fe_0_86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"A verdadeira inovação nos negócios começa quando fazemos as perguntas certas aos nossos dados."</a:t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020"/>
              </a:solidFill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Fim da Aula 01!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Poppins Light"/>
              <a:buChar char="●"/>
            </a:pPr>
            <a:r>
              <a:rPr lang="pt-BR">
                <a:solidFill>
                  <a:srgbClr val="202020"/>
                </a:solidFill>
              </a:rPr>
              <a:t>Lembrem-se de instalar os pacotes Python recomendados para o lab da próxima aula.</a:t>
            </a:r>
            <a:endParaRPr>
              <a:solidFill>
                <a:srgbClr val="202020"/>
              </a:solidFill>
            </a:endParaRPr>
          </a:p>
          <a:p>
            <a:pPr indent="-330200" lvl="0" marL="457200" marR="929359" rtl="0" algn="just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Poppins Light"/>
              <a:buChar char="●"/>
            </a:pPr>
            <a:r>
              <a:rPr lang="pt-BR">
                <a:solidFill>
                  <a:srgbClr val="202020"/>
                </a:solidFill>
              </a:rPr>
              <a:t>Disponibilizarei o código da Busca Ingênua no repositório da disciplina.</a:t>
            </a:r>
            <a:endParaRPr>
              <a:solidFill>
                <a:srgbClr val="202020"/>
              </a:solidFill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0" name="Google Shape;360;g3f5d31186fe_0_86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Dúvidas e Encerramento</a:t>
            </a:r>
            <a:endParaRPr sz="2200">
              <a:solidFill>
                <a:srgbClr val="B41B26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2023-12-21T18:31:02Z</dcterms:created>
  <dc:creator>Ester Margotto Montebeler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0x0101008C19AB3E6619E54BB6D98946A8919BCB</vt:lpwstr>
  </property>
  <property fmtid="{D5CDD505-2E9C-101B-9397-08002B2CF9AE}" pid="3" name="MediaServiceImageTags">
    <vt:lpwstr/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</Properties>
</file>