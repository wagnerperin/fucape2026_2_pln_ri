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Garamond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Poppins Light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Poppins Extra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jRUJLfS+2suGuONKGJJxlSU7i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00F605-6F20-4209-BEFC-5DF56A84D19F}">
  <a:tblStyle styleId="{A800F605-6F20-4209-BEFC-5DF56A84D1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Light-regular.fntdata"/><Relationship Id="rId20" Type="http://schemas.openxmlformats.org/officeDocument/2006/relationships/slide" Target="slides/slide15.xml"/><Relationship Id="rId42" Type="http://schemas.openxmlformats.org/officeDocument/2006/relationships/font" Target="fonts/PoppinsExtraLight-italic.fntdata"/><Relationship Id="rId41" Type="http://schemas.openxmlformats.org/officeDocument/2006/relationships/font" Target="fonts/PoppinsExtraLight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PoppinsExtraLight-boldItalic.fntdata"/><Relationship Id="rId24" Type="http://schemas.openxmlformats.org/officeDocument/2006/relationships/font" Target="fonts/Garamon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italic.fntdata"/><Relationship Id="rId25" Type="http://schemas.openxmlformats.org/officeDocument/2006/relationships/font" Target="fonts/Garamond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PoppinsLight-bold.fntdata"/><Relationship Id="rId10" Type="http://schemas.openxmlformats.org/officeDocument/2006/relationships/slide" Target="slides/slide5.xml"/><Relationship Id="rId32" Type="http://schemas.openxmlformats.org/officeDocument/2006/relationships/font" Target="fonts/PoppinsLight-regular.fntdata"/><Relationship Id="rId13" Type="http://schemas.openxmlformats.org/officeDocument/2006/relationships/slide" Target="slides/slide8.xml"/><Relationship Id="rId35" Type="http://schemas.openxmlformats.org/officeDocument/2006/relationships/font" Target="fonts/Poppins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Light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4404d32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f64404d32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cfaf56c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5cfaf56c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64404d32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f64404d32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64404d32b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f64404d32b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4404d32b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f64404d32b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4404d32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f64404d32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4404d32b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64404d32b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74d5073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f74d5073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4d50731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f74d50731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4d50731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f74d50731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74d50731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f74d50731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4d507314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f74d507314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4d507314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f74d507314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74d50731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f74d50731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4d507314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f74d507314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5d31186f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f5d31186f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Final">
  <p:cSld name="Capa Fin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Título e texto">
  <p:cSld name="1_Slide Título e 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969034" y="1468581"/>
            <a:ext cx="10292001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2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Principal">
  <p:cSld name="Cap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1400175" y="3067050"/>
            <a:ext cx="9838748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b="1" i="0" sz="4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1400175" y="4638722"/>
            <a:ext cx="983874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lide Texto e Imagem">
  <p:cSld name="2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969034" y="692989"/>
            <a:ext cx="5302457" cy="521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9" name="Google Shape;19;p8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lide Título, Texto e Imagem">
  <p:cSld name="3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idx="1" type="subTitle"/>
          </p:nvPr>
        </p:nvSpPr>
        <p:spPr>
          <a:xfrm>
            <a:off x="969034" y="1468581"/>
            <a:ext cx="5302457" cy="4442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A0A0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2" name="Google Shape;22;p9"/>
          <p:cNvSpPr/>
          <p:nvPr>
            <p:ph idx="2" type="pic"/>
          </p:nvPr>
        </p:nvSpPr>
        <p:spPr>
          <a:xfrm>
            <a:off x="6522460" y="1468581"/>
            <a:ext cx="4718978" cy="444269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969035" y="704850"/>
            <a:ext cx="832736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lide Título+Texto">
  <p:cSld name="4_Slide Título+Tex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960438" y="1468438"/>
            <a:ext cx="10280650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2" type="body"/>
          </p:nvPr>
        </p:nvSpPr>
        <p:spPr>
          <a:xfrm>
            <a:off x="960439" y="676275"/>
            <a:ext cx="773588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lide Texto e Imagem">
  <p:cSld name="5_Slide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0202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02020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29" name="Google Shape;29;p11"/>
          <p:cNvSpPr/>
          <p:nvPr>
            <p:ph idx="2" type="pic"/>
          </p:nvPr>
        </p:nvSpPr>
        <p:spPr>
          <a:xfrm>
            <a:off x="6898844" y="1579563"/>
            <a:ext cx="4368800" cy="46545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lide Título, Texto e Imagem">
  <p:cSld name="6_Slide Título, Texto 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6898844" y="1828367"/>
            <a:ext cx="4368800" cy="440574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2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3" type="body"/>
          </p:nvPr>
        </p:nvSpPr>
        <p:spPr>
          <a:xfrm>
            <a:off x="887413" y="1171575"/>
            <a:ext cx="5283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1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lide Texto, Imagem e Legenda">
  <p:cSld name="7_Slide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idx="1" type="subTitle"/>
          </p:nvPr>
        </p:nvSpPr>
        <p:spPr>
          <a:xfrm>
            <a:off x="886691" y="1191491"/>
            <a:ext cx="5283200" cy="504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36" name="Google Shape;36;p13"/>
          <p:cNvSpPr/>
          <p:nvPr>
            <p:ph idx="2" type="pic"/>
          </p:nvPr>
        </p:nvSpPr>
        <p:spPr>
          <a:xfrm>
            <a:off x="6898844" y="1579563"/>
            <a:ext cx="4368800" cy="3685164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 txBox="1"/>
          <p:nvPr>
            <p:ph idx="3" type="body"/>
          </p:nvPr>
        </p:nvSpPr>
        <p:spPr>
          <a:xfrm>
            <a:off x="6899275" y="5619750"/>
            <a:ext cx="4368800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Slide Título, Texto, Imagem e Legenda">
  <p:cSld name="8_Slide Título, Texto,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idx="1" type="subTitle"/>
          </p:nvPr>
        </p:nvSpPr>
        <p:spPr>
          <a:xfrm>
            <a:off x="886691" y="1828799"/>
            <a:ext cx="5283200" cy="4405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0" name="Google Shape;40;p14"/>
          <p:cNvSpPr/>
          <p:nvPr>
            <p:ph idx="2" type="pic"/>
          </p:nvPr>
        </p:nvSpPr>
        <p:spPr>
          <a:xfrm>
            <a:off x="6898844" y="1828799"/>
            <a:ext cx="4368800" cy="3435928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4"/>
          <p:cNvSpPr txBox="1"/>
          <p:nvPr>
            <p:ph idx="3" type="body"/>
          </p:nvPr>
        </p:nvSpPr>
        <p:spPr>
          <a:xfrm>
            <a:off x="6899275" y="5610225"/>
            <a:ext cx="4368800" cy="62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4" type="body"/>
          </p:nvPr>
        </p:nvSpPr>
        <p:spPr>
          <a:xfrm>
            <a:off x="887413" y="1181100"/>
            <a:ext cx="5283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lide Imagens e Legendas">
  <p:cSld name="9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/>
          <p:nvPr>
            <p:ph idx="2" type="pic"/>
          </p:nvPr>
        </p:nvSpPr>
        <p:spPr>
          <a:xfrm>
            <a:off x="913986" y="1466850"/>
            <a:ext cx="5027949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5"/>
          <p:cNvSpPr/>
          <p:nvPr>
            <p:ph idx="3" type="pic"/>
          </p:nvPr>
        </p:nvSpPr>
        <p:spPr>
          <a:xfrm>
            <a:off x="6409523" y="1466849"/>
            <a:ext cx="4839101" cy="363140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914401" y="5394325"/>
            <a:ext cx="50279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6409522" y="5387974"/>
            <a:ext cx="4839102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5" type="body"/>
          </p:nvPr>
        </p:nvSpPr>
        <p:spPr>
          <a:xfrm>
            <a:off x="913986" y="781050"/>
            <a:ext cx="1033463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Slide Imagens e Legendas">
  <p:cSld name="10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/>
          <p:nvPr>
            <p:ph idx="2" type="pic"/>
          </p:nvPr>
        </p:nvSpPr>
        <p:spPr>
          <a:xfrm>
            <a:off x="914401" y="793750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6"/>
          <p:cNvSpPr/>
          <p:nvPr>
            <p:ph idx="3" type="pic"/>
          </p:nvPr>
        </p:nvSpPr>
        <p:spPr>
          <a:xfrm>
            <a:off x="4447165" y="800893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6"/>
          <p:cNvSpPr/>
          <p:nvPr>
            <p:ph idx="4" type="pic"/>
          </p:nvPr>
        </p:nvSpPr>
        <p:spPr>
          <a:xfrm>
            <a:off x="7951369" y="793749"/>
            <a:ext cx="3297670" cy="430450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4" name="Google Shape;54;p16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lide Título, Imagens e Legendas">
  <p:cSld name="11_Slide Título,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/>
          <p:nvPr>
            <p:ph idx="2" type="pic"/>
          </p:nvPr>
        </p:nvSpPr>
        <p:spPr>
          <a:xfrm>
            <a:off x="914401" y="1373982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/>
          <p:nvPr>
            <p:ph idx="3" type="pic"/>
          </p:nvPr>
        </p:nvSpPr>
        <p:spPr>
          <a:xfrm>
            <a:off x="4447165" y="1381125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7"/>
          <p:cNvSpPr/>
          <p:nvPr>
            <p:ph idx="4" type="pic"/>
          </p:nvPr>
        </p:nvSpPr>
        <p:spPr>
          <a:xfrm>
            <a:off x="7951369" y="1373981"/>
            <a:ext cx="3297670" cy="372427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914400" y="5394325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5" type="body"/>
          </p:nvPr>
        </p:nvSpPr>
        <p:spPr>
          <a:xfrm>
            <a:off x="4446747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6" type="body"/>
          </p:nvPr>
        </p:nvSpPr>
        <p:spPr>
          <a:xfrm>
            <a:off x="7950952" y="5387974"/>
            <a:ext cx="329767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7" type="body"/>
          </p:nvPr>
        </p:nvSpPr>
        <p:spPr>
          <a:xfrm>
            <a:off x="800100" y="762000"/>
            <a:ext cx="10448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apa Interna 01">
  <p:cSld name="12_Capa Interna 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733425" y="3752850"/>
            <a:ext cx="107251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4572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4572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4572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4572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pa Interna 02">
  <p:cSld name="13_Capa Interna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33425" y="4562475"/>
            <a:ext cx="10725150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733425" y="3762375"/>
            <a:ext cx="107251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Slide Imagem">
  <p:cSld name="14_Slide Image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/>
          <p:nvPr>
            <p:ph idx="2" type="pic"/>
          </p:nvPr>
        </p:nvSpPr>
        <p:spPr>
          <a:xfrm>
            <a:off x="914400" y="796419"/>
            <a:ext cx="10353111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Slide Imagem e Legenda">
  <p:cSld name="15_Slide Imagem e Le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/>
          <p:nvPr>
            <p:ph idx="2" type="pic"/>
          </p:nvPr>
        </p:nvSpPr>
        <p:spPr>
          <a:xfrm>
            <a:off x="914400" y="796419"/>
            <a:ext cx="10353111" cy="4337556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914400" y="5394325"/>
            <a:ext cx="10353111" cy="661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Slide Imagens">
  <p:cSld name="16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2"/>
          <p:cNvSpPr/>
          <p:nvPr>
            <p:ph idx="3" type="pic"/>
          </p:nvPr>
        </p:nvSpPr>
        <p:spPr>
          <a:xfrm>
            <a:off x="6196749" y="796418"/>
            <a:ext cx="5070763" cy="525549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Slide Imagens e Legendas">
  <p:cSld name="17_Slide Imagens e Legenda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>
            <p:ph idx="2" type="pic"/>
          </p:nvPr>
        </p:nvSpPr>
        <p:spPr>
          <a:xfrm>
            <a:off x="914401" y="796419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3"/>
          <p:cNvSpPr/>
          <p:nvPr>
            <p:ph idx="3" type="pic"/>
          </p:nvPr>
        </p:nvSpPr>
        <p:spPr>
          <a:xfrm>
            <a:off x="6196749" y="796418"/>
            <a:ext cx="5070764" cy="448995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914400" y="5524500"/>
            <a:ext cx="5070475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4" type="body"/>
          </p:nvPr>
        </p:nvSpPr>
        <p:spPr>
          <a:xfrm>
            <a:off x="6196013" y="5524500"/>
            <a:ext cx="50720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Slide Imagens">
  <p:cSld name="18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>
            <p:ph idx="2" type="pic"/>
          </p:nvPr>
        </p:nvSpPr>
        <p:spPr>
          <a:xfrm>
            <a:off x="914401" y="796419"/>
            <a:ext cx="5070763" cy="5255498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4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4"/>
          <p:cNvSpPr/>
          <p:nvPr>
            <p:ph idx="4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Imagens">
  <p:cSld name="19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>
            <p:ph idx="2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5"/>
          <p:cNvSpPr/>
          <p:nvPr>
            <p:ph idx="3" type="pic"/>
          </p:nvPr>
        </p:nvSpPr>
        <p:spPr>
          <a:xfrm>
            <a:off x="6196749" y="350729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25"/>
          <p:cNvSpPr/>
          <p:nvPr>
            <p:ph idx="4" type="pic"/>
          </p:nvPr>
        </p:nvSpPr>
        <p:spPr>
          <a:xfrm>
            <a:off x="914401" y="806083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5"/>
          <p:cNvSpPr/>
          <p:nvPr>
            <p:ph idx="5" type="pic"/>
          </p:nvPr>
        </p:nvSpPr>
        <p:spPr>
          <a:xfrm>
            <a:off x="914401" y="3516964"/>
            <a:ext cx="5070763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Slide Textos e Imagens">
  <p:cSld name="19_Slide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924489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95" name="Google Shape;95;p26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4" type="body"/>
          </p:nvPr>
        </p:nvSpPr>
        <p:spPr>
          <a:xfrm>
            <a:off x="6305550" y="796419"/>
            <a:ext cx="4961961" cy="145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Slide Título, Textos e Imagens">
  <p:cSld name="20_Slide Título, Textos 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>
            <p:ph idx="2" type="pic"/>
          </p:nvPr>
        </p:nvSpPr>
        <p:spPr>
          <a:xfrm>
            <a:off x="1009650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924489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0" name="Google Shape;100;p27"/>
          <p:cNvSpPr/>
          <p:nvPr>
            <p:ph idx="3" type="pic"/>
          </p:nvPr>
        </p:nvSpPr>
        <p:spPr>
          <a:xfrm>
            <a:off x="6390711" y="2647951"/>
            <a:ext cx="4791639" cy="3413632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7"/>
          <p:cNvSpPr txBox="1"/>
          <p:nvPr>
            <p:ph idx="4" type="body"/>
          </p:nvPr>
        </p:nvSpPr>
        <p:spPr>
          <a:xfrm>
            <a:off x="6305550" y="1452563"/>
            <a:ext cx="4961961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02" name="Google Shape;102;p27"/>
          <p:cNvSpPr txBox="1"/>
          <p:nvPr>
            <p:ph idx="5" type="body"/>
          </p:nvPr>
        </p:nvSpPr>
        <p:spPr>
          <a:xfrm>
            <a:off x="828675" y="762000"/>
            <a:ext cx="10439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Slide Imagens">
  <p:cSld name="21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/>
          <p:nvPr>
            <p:ph idx="2" type="pic"/>
          </p:nvPr>
        </p:nvSpPr>
        <p:spPr>
          <a:xfrm>
            <a:off x="914401" y="796419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3" type="pic"/>
          </p:nvPr>
        </p:nvSpPr>
        <p:spPr>
          <a:xfrm>
            <a:off x="6196749" y="796418"/>
            <a:ext cx="5070763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/>
          <p:nvPr>
            <p:ph idx="4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8"/>
          <p:cNvSpPr/>
          <p:nvPr>
            <p:ph idx="5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8"/>
          <p:cNvSpPr/>
          <p:nvPr>
            <p:ph idx="6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Slide Imagens">
  <p:cSld name="22_Slide Image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/>
          <p:nvPr>
            <p:ph idx="2" type="pic"/>
          </p:nvPr>
        </p:nvSpPr>
        <p:spPr>
          <a:xfrm>
            <a:off x="914401" y="796419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/>
          <p:nvPr>
            <p:ph idx="3" type="pic"/>
          </p:nvPr>
        </p:nvSpPr>
        <p:spPr>
          <a:xfrm>
            <a:off x="4447165" y="803562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9"/>
          <p:cNvSpPr/>
          <p:nvPr>
            <p:ph idx="4" type="pic"/>
          </p:nvPr>
        </p:nvSpPr>
        <p:spPr>
          <a:xfrm>
            <a:off x="7951369" y="796418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9"/>
          <p:cNvSpPr/>
          <p:nvPr>
            <p:ph idx="5" type="pic"/>
          </p:nvPr>
        </p:nvSpPr>
        <p:spPr>
          <a:xfrm>
            <a:off x="932874" y="3507300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9"/>
          <p:cNvSpPr/>
          <p:nvPr>
            <p:ph idx="6" type="pic"/>
          </p:nvPr>
        </p:nvSpPr>
        <p:spPr>
          <a:xfrm>
            <a:off x="4465638" y="3514443"/>
            <a:ext cx="3297670" cy="2544618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9"/>
          <p:cNvSpPr/>
          <p:nvPr>
            <p:ph idx="7" type="pic"/>
          </p:nvPr>
        </p:nvSpPr>
        <p:spPr>
          <a:xfrm>
            <a:off x="7969842" y="3507299"/>
            <a:ext cx="3297670" cy="254461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Relationship Id="rId4" Type="http://schemas.openxmlformats.org/officeDocument/2006/relationships/image" Target="../media/image22.jpg"/><Relationship Id="rId5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title"/>
          </p:nvPr>
        </p:nvSpPr>
        <p:spPr>
          <a:xfrm>
            <a:off x="1400175" y="2790825"/>
            <a:ext cx="98388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</a:pPr>
            <a:r>
              <a:rPr lang="pt-BR" sz="4200">
                <a:solidFill>
                  <a:srgbClr val="202020"/>
                </a:solidFill>
              </a:rPr>
              <a:t>PLN e Sistemas de Recuperação de Informação</a:t>
            </a:r>
            <a:endParaRPr sz="4200">
              <a:solidFill>
                <a:srgbClr val="202020"/>
              </a:solidFill>
            </a:endParaRPr>
          </a:p>
        </p:txBody>
      </p:sp>
      <p:sp>
        <p:nvSpPr>
          <p:cNvPr id="125" name="Google Shape;125;p1"/>
          <p:cNvSpPr txBox="1"/>
          <p:nvPr>
            <p:ph idx="1" type="body"/>
          </p:nvPr>
        </p:nvSpPr>
        <p:spPr>
          <a:xfrm>
            <a:off x="1400200" y="40673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Aula 02 - </a:t>
            </a:r>
            <a:r>
              <a:rPr lang="pt-BR" sz="2100">
                <a:solidFill>
                  <a:srgbClr val="202020"/>
                </a:solidFill>
              </a:rPr>
              <a:t>Modelos Clássicos de RI: Booleano e Espaço Vetorial (TF-IDF)</a:t>
            </a:r>
            <a:endParaRPr sz="2000">
              <a:solidFill>
                <a:srgbClr val="202020"/>
              </a:solidFill>
            </a:endParaRPr>
          </a:p>
        </p:txBody>
      </p:sp>
      <p:sp>
        <p:nvSpPr>
          <p:cNvPr id="126" name="Google Shape;126;p1"/>
          <p:cNvSpPr txBox="1"/>
          <p:nvPr>
            <p:ph idx="1" type="body"/>
          </p:nvPr>
        </p:nvSpPr>
        <p:spPr>
          <a:xfrm>
            <a:off x="1400200" y="5963822"/>
            <a:ext cx="983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100">
                <a:solidFill>
                  <a:srgbClr val="202020"/>
                </a:solidFill>
              </a:rPr>
              <a:t>Prof. Dr. Wagner de A. Perin</a:t>
            </a:r>
            <a:endParaRPr sz="200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4404d32b_0_6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Na Aula 01, provamos que o SQL LIKE é uma busca cega com complexidade O(N). Hoje cumpriremos as promessas: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1. C</a:t>
            </a: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omo tokenizar relatórios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2. Como construir Matrizes de Incidência 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3. Como aplicar Ponderação Vetorial</a:t>
            </a:r>
            <a:endParaRPr/>
          </a:p>
        </p:txBody>
      </p:sp>
      <p:sp>
        <p:nvSpPr>
          <p:cNvPr id="132" name="Google Shape;132;g3f64404d32b_0_6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Resgate da Aula 01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cfaf56cc_0_4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 sz="20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Problema Investigado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Em uma intranet jurídica com 100.000 relatórios, a busca por 'contrato com cláusula de rescisão antecipada' retorna 15.000 arquivos em ordem alfabética, elevando o Tempo Médio de Atendimento (TMA) em 45 minutos por chamado e gerando um custo residual de R$ 90.000,00/mês.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Dilemas e Questões para Discussão: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Por que ordenar resultados por ordem alfabética ou data de criação destrói a produtividade do analista?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Se a palavra "</a:t>
            </a:r>
            <a:r>
              <a:rPr i="1" lang="pt-BR"/>
              <a:t>contrato</a:t>
            </a:r>
            <a:r>
              <a:rPr lang="pt-BR"/>
              <a:t>" aparece em 50.000 arquivos, mas "</a:t>
            </a:r>
            <a:r>
              <a:rPr i="1" lang="pt-BR"/>
              <a:t>rescisão</a:t>
            </a:r>
            <a:r>
              <a:rPr lang="pt-BR"/>
              <a:t>" aparece em apenas 200, qual termo carrega mais poder discriminatório?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pt-BR"/>
              <a:t>Como expressar matematicamente a intuição de que uma palavra rara vale mais que uma palavra comum?</a:t>
            </a:r>
            <a:endParaRPr/>
          </a:p>
        </p:txBody>
      </p:sp>
      <p:sp>
        <p:nvSpPr>
          <p:cNvPr id="138" name="Google Shape;138;g3f5cfaf56cc_0_4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Dor de Negócio no E-commerce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4404d32b_0_11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 computador não lê frases; ele precisa de uma lista finita e ordenada de unidades discretas de texto.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Pipeline de Pré-Processamento: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Normalização: </a:t>
            </a:r>
            <a:r>
              <a:rPr lang="pt-BR"/>
              <a:t>Conversão de todas as letras para minúsculas (</a:t>
            </a:r>
            <a:r>
              <a:rPr i="1" lang="pt-BR"/>
              <a:t>lowercase</a:t>
            </a:r>
            <a:r>
              <a:rPr lang="pt-BR"/>
              <a:t>).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Limpeza de Caracteres: </a:t>
            </a:r>
            <a:r>
              <a:rPr lang="pt-BR"/>
              <a:t>Remoção de </a:t>
            </a:r>
            <a:r>
              <a:rPr lang="pt-BR"/>
              <a:t>pontuação</a:t>
            </a:r>
            <a:r>
              <a:rPr lang="pt-BR"/>
              <a:t>, símbolos e caracteres especiais.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Tokenização: </a:t>
            </a:r>
            <a:r>
              <a:rPr lang="pt-BR"/>
              <a:t>Divisão do texto bruto em </a:t>
            </a:r>
            <a:r>
              <a:rPr i="1" lang="pt-BR"/>
              <a:t>tokens</a:t>
            </a:r>
            <a:r>
              <a:rPr lang="pt-BR"/>
              <a:t> (palavras individuais).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Filtragem de Stop Words: </a:t>
            </a:r>
            <a:r>
              <a:rPr lang="pt-BR"/>
              <a:t>Remoção de palavras funcionais sem conteúdo semântico (</a:t>
            </a:r>
            <a:r>
              <a:rPr i="1" lang="pt-BR"/>
              <a:t>de, com, para, em, o , a, …</a:t>
            </a:r>
            <a:r>
              <a:rPr lang="pt-BR"/>
              <a:t>)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Construção do Vocabulário Único (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V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): 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Light"/>
              <a:buChar char="●"/>
            </a:pPr>
            <a:r>
              <a:rPr lang="pt-BR"/>
              <a:t>O tamanho do vocabulário </a:t>
            </a:r>
            <a:r>
              <a:rPr i="1" lang="pt-BR">
                <a:latin typeface="Garamond"/>
                <a:ea typeface="Garamond"/>
                <a:cs typeface="Garamond"/>
                <a:sym typeface="Garamond"/>
              </a:rPr>
              <a:t>|V|</a:t>
            </a:r>
            <a:r>
              <a:rPr lang="pt-BR"/>
              <a:t> define a dimensão do espaço de busca.</a:t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f64404d32b_0_11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Primeiro Passo: </a:t>
            </a:r>
            <a:r>
              <a:rPr b="0" lang="pt-BR" sz="2200">
                <a:solidFill>
                  <a:srgbClr val="B41B26"/>
                </a:solidFill>
              </a:rPr>
              <a:t>Tokenização e Vocabulário (</a:t>
            </a:r>
            <a:r>
              <a:rPr b="0" i="1" lang="pt-BR" sz="2200">
                <a:solidFill>
                  <a:srgbClr val="B41B26"/>
                </a:solidFill>
                <a:latin typeface="Garamond"/>
                <a:ea typeface="Garamond"/>
                <a:cs typeface="Garamond"/>
                <a:sym typeface="Garamond"/>
              </a:rPr>
              <a:t>V</a:t>
            </a:r>
            <a:r>
              <a:rPr b="0" lang="pt-BR" sz="2200">
                <a:solidFill>
                  <a:srgbClr val="B41B26"/>
                </a:solidFill>
              </a:rPr>
              <a:t>)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45" name="Google Shape;145;g3f64404d32b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213" y="4351856"/>
            <a:ext cx="2819568" cy="641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4404d32b_0_5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Palavras muito frequentes na língua não carregam informação sobre o assunto do documento e poluem o índice com dimensões ineficientes.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 que são Stop Words?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Palavras estritamente gramaticais (artigos, preposições, conjunções, pronomes) com alta frequência na língua.</a:t>
            </a:r>
            <a:endParaRPr/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Como identificá-las?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Possuem frequência documental máxima (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DF</a:t>
            </a:r>
            <a:r>
              <a:rPr b="1" baseline="-25000" i="1" lang="pt-BR">
                <a:latin typeface="Garamond"/>
                <a:ea typeface="Garamond"/>
                <a:cs typeface="Garamond"/>
                <a:sym typeface="Garamond"/>
              </a:rPr>
              <a:t>t 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≈ N</a:t>
            </a:r>
            <a:r>
              <a:rPr lang="pt-BR"/>
              <a:t>) e poder discriminatório nulo (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IDF(t) ≈ 0</a:t>
            </a:r>
            <a:r>
              <a:rPr lang="pt-BR"/>
              <a:t>).</a:t>
            </a:r>
            <a:endParaRPr/>
          </a:p>
          <a:p>
            <a:pPr indent="-330200" lvl="0" marL="457200" marR="929359" rtl="0" algn="just"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 Que Removê-las do Vocabulário?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Otimização de Espaço: </a:t>
            </a:r>
            <a:r>
              <a:rPr lang="pt-BR"/>
              <a:t>Reduz em 30% a 50% o número de entradas do Vocabulário |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V</a:t>
            </a:r>
            <a:r>
              <a:rPr lang="pt-BR"/>
              <a:t>|, economizando </a:t>
            </a:r>
            <a:r>
              <a:rPr i="1" lang="pt-BR"/>
              <a:t>RAM </a:t>
            </a:r>
            <a:r>
              <a:rPr lang="pt-BR"/>
              <a:t>e </a:t>
            </a:r>
            <a:r>
              <a:rPr i="1" lang="pt-BR"/>
              <a:t>I/O</a:t>
            </a:r>
            <a:r>
              <a:rPr lang="pt-BR"/>
              <a:t>.</a:t>
            </a:r>
            <a:endParaRPr/>
          </a:p>
          <a:p>
            <a:pPr indent="-330200" lvl="0" marL="914400" marR="929359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Evita Falsos Matches: </a:t>
            </a:r>
            <a:r>
              <a:rPr lang="pt-BR"/>
              <a:t>Impede que dois documentos sejam considerados parecidos apenas por compartilharem a palavra “</a:t>
            </a:r>
            <a:r>
              <a:rPr i="1" lang="pt-BR"/>
              <a:t>de</a:t>
            </a:r>
            <a:r>
              <a:rPr lang="pt-BR"/>
              <a:t>” ou “</a:t>
            </a:r>
            <a:r>
              <a:rPr i="1" lang="pt-BR"/>
              <a:t>com</a:t>
            </a:r>
            <a:r>
              <a:rPr lang="pt-BR"/>
              <a:t>”.</a:t>
            </a:r>
            <a:endParaRPr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Provocação</a:t>
            </a:r>
            <a:r>
              <a:rPr lang="pt-BR"/>
              <a:t>: Se a consulta for a famosa frase de Shakespeare '</a:t>
            </a:r>
            <a:r>
              <a:rPr i="1" lang="pt-BR"/>
              <a:t>Ser ou não ser</a:t>
            </a:r>
            <a:r>
              <a:rPr lang="pt-BR"/>
              <a:t>', o que acontece se removermos as stop words?</a:t>
            </a:r>
            <a:endParaRPr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g3f64404d32b_0_5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que são Stop Words e Por Que Evitá-las?</a:t>
            </a:r>
            <a:endParaRPr b="0"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4404d32b_0_17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Representando a presença ou ausência de cada palavra do vocabulário em cada documento da coleção.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Definição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 o Vocabulário 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V = {t1, t2, …, t|V|}</a:t>
            </a:r>
            <a:r>
              <a:rPr lang="pt-BR"/>
              <a:t> e os Documentos </a:t>
            </a:r>
            <a:r>
              <a:rPr b="1" i="1" lang="pt-BR">
                <a:latin typeface="Garamond"/>
                <a:ea typeface="Garamond"/>
                <a:cs typeface="Garamond"/>
                <a:sym typeface="Garamond"/>
              </a:rPr>
              <a:t>D = {d1, d2, …, dN}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Exemplo Prático (4 Relatórios Jurídicos):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 	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g3f64404d32b_0_1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O Segundo Passo: </a:t>
            </a:r>
            <a:r>
              <a:rPr b="0" lang="pt-BR" sz="2200">
                <a:solidFill>
                  <a:srgbClr val="B41B26"/>
                </a:solidFill>
              </a:rPr>
              <a:t>Construção da Matriz de Incidência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58" name="Google Shape;158;g3f64404d32b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2888" y="3094198"/>
            <a:ext cx="6024376" cy="832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g3f64404d32b_0_17"/>
          <p:cNvGraphicFramePr/>
          <p:nvPr/>
        </p:nvGraphicFramePr>
        <p:xfrm>
          <a:off x="971588" y="429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{A800F605-6F20-4209-BEFC-5DF56A84D19F}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B41B26"/>
                          </a:solidFill>
                        </a:rPr>
                        <a:t>Termo</a:t>
                      </a:r>
                      <a:endParaRPr b="1">
                        <a:solidFill>
                          <a:srgbClr val="B41B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B41B26"/>
                          </a:solidFill>
                        </a:rPr>
                        <a:t>Doc 1</a:t>
                      </a:r>
                      <a:endParaRPr b="1">
                        <a:solidFill>
                          <a:srgbClr val="B41B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B41B26"/>
                          </a:solidFill>
                        </a:rPr>
                        <a:t>Doc 2</a:t>
                      </a:r>
                      <a:endParaRPr b="1">
                        <a:solidFill>
                          <a:srgbClr val="B41B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B41B26"/>
                          </a:solidFill>
                        </a:rPr>
                        <a:t>Doc 3</a:t>
                      </a:r>
                      <a:endParaRPr b="1">
                        <a:solidFill>
                          <a:srgbClr val="B41B26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rgbClr val="B41B26"/>
                          </a:solidFill>
                        </a:rPr>
                        <a:t>Doc 4</a:t>
                      </a:r>
                      <a:endParaRPr b="1">
                        <a:solidFill>
                          <a:srgbClr val="B41B26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contrato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rescisão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multa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suporte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64404d32b_0_3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Resolução Algébrica: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Operando a busca através de operações lógicas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bitwise </a:t>
            </a:r>
            <a:r>
              <a:rPr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nos vetores da Matriz de Incidência.</a:t>
            </a:r>
            <a:endParaRPr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Consulta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contrato 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rescisão 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AND NOT </a:t>
            </a:r>
            <a:r>
              <a:rPr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multa</a:t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Obtenção dos Vetores de Linha da Matriz </a:t>
            </a:r>
            <a:r>
              <a:rPr b="1" lang="pt-BR">
                <a:solidFill>
                  <a:srgbClr val="B41B26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2000"/>
              <a:buFont typeface="Poppins"/>
              <a:buChar char="○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2000"/>
              <a:buFont typeface="Poppins"/>
              <a:buChar char="○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2000"/>
              <a:buFont typeface="Poppins"/>
              <a:buChar char="○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Operação Lógica (⋀):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Conclusão: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pt-BR"/>
              <a:t>Apenas o </a:t>
            </a:r>
            <a:r>
              <a:rPr b="1" i="1" lang="pt-BR">
                <a:latin typeface="Poppins"/>
                <a:ea typeface="Poppins"/>
                <a:cs typeface="Poppins"/>
                <a:sym typeface="Poppins"/>
              </a:rPr>
              <a:t>Doc 1 </a:t>
            </a:r>
            <a:r>
              <a:rPr i="1" lang="pt-BR"/>
              <a:t>atende à consulta Booleana</a:t>
            </a:r>
            <a:endParaRPr i="1"/>
          </a:p>
        </p:txBody>
      </p:sp>
      <p:sp>
        <p:nvSpPr>
          <p:cNvPr id="165" name="Google Shape;165;g3f64404d32b_0_3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Executando Consultas Booleanas com Vetores Binários</a:t>
            </a:r>
            <a:endParaRPr b="0" sz="2200">
              <a:solidFill>
                <a:srgbClr val="B41B26"/>
              </a:solidFill>
            </a:endParaRPr>
          </a:p>
        </p:txBody>
      </p:sp>
      <p:pic>
        <p:nvPicPr>
          <p:cNvPr id="166" name="Google Shape;166;g3f64404d32b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375" y="2984575"/>
            <a:ext cx="2366875" cy="3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64404d32b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375" y="3262325"/>
            <a:ext cx="2366875" cy="31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64404d32b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0375" y="3580950"/>
            <a:ext cx="5472852" cy="3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f64404d32b_0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5338" y="4482081"/>
            <a:ext cx="5842923" cy="641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64404d32b_0_43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Por que a Matriz de Incidência 0/1 ainda é insuficiente para sistemas de recomendação e busca modernos?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Ausência de Graduação de Relevância: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/>
              <a:t>Um documento menciona “</a:t>
            </a:r>
            <a:r>
              <a:rPr i="1" lang="pt-BR"/>
              <a:t>rescisão</a:t>
            </a:r>
            <a:r>
              <a:rPr lang="pt-BR"/>
              <a:t>” 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50 vezes</a:t>
            </a:r>
            <a:r>
              <a:rPr lang="pt-BR"/>
              <a:t> recebe o mesmo valor 1 que um documento que menciona a palavra 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1 única vez</a:t>
            </a:r>
            <a:r>
              <a:rPr lang="pt-BR"/>
              <a:t>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Rigidez da Resposta (“Tudo ou Nada”):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>
                <a:solidFill>
                  <a:srgbClr val="0A0A0A"/>
                </a:solidFill>
              </a:rPr>
              <a:t>Se o usuário busca 4 termos e o documento atende a 3, a consulta Booleana com AND retorna 0 (descarte total).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Falta de Ordenação (SERP):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t-BR" sz="1600">
                <a:solidFill>
                  <a:srgbClr val="0A0A0A"/>
                </a:solidFill>
              </a:rPr>
              <a:t>O sistema não consegue dizer qual dos documentos recuperados é o 1º mais importante, o 2º, etc.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3f64404d32b_0_43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Limitações da Matriz de Incidência Binária</a:t>
            </a:r>
            <a:endParaRPr sz="2200">
              <a:solidFill>
                <a:srgbClr val="B41B2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4d507314_0_0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A Evolução Necessária: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Substituindo os valores binários (0 e 1) por pesos contínuos w</a:t>
            </a:r>
            <a:r>
              <a:rPr baseline="-25000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t,d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∈ R baseados na relevância do termo.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Representação do Documento d</a:t>
            </a:r>
            <a:r>
              <a:rPr b="1" baseline="-25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em R</a:t>
            </a:r>
            <a:r>
              <a:rPr b="1" baseline="30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∣</a:t>
            </a:r>
            <a:r>
              <a:rPr b="1" baseline="30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V∣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Representação da Consulta q em R</a:t>
            </a:r>
            <a:r>
              <a:rPr b="1" baseline="30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∣</a:t>
            </a:r>
            <a:r>
              <a:rPr b="1" baseline="30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b="1" baseline="30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∣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74d507314_0_0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Da Incidência Binária ao Modelo Vetorial (</a:t>
            </a:r>
            <a:r>
              <a:rPr i="1" lang="pt-BR" sz="2200">
                <a:solidFill>
                  <a:srgbClr val="B41B26"/>
                </a:solidFill>
              </a:rPr>
              <a:t>VSM</a:t>
            </a:r>
            <a:r>
              <a:rPr lang="pt-BR" sz="2200">
                <a:solidFill>
                  <a:srgbClr val="B41B26"/>
                </a:solidFill>
              </a:rPr>
              <a:t>)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descr="Deixe a imagem com fundo cinza claro (#ededed)" id="182" name="Google Shape;182;g3f74d50731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425" y="1837175"/>
            <a:ext cx="2367675" cy="145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f74d507314_0_0"/>
          <p:cNvPicPr preferRelativeResize="0"/>
          <p:nvPr/>
        </p:nvPicPr>
        <p:blipFill rotWithShape="1">
          <a:blip r:embed="rId4">
            <a:alphaModFix/>
          </a:blip>
          <a:srcRect b="20" l="0" r="0" t="10"/>
          <a:stretch/>
        </p:blipFill>
        <p:spPr>
          <a:xfrm>
            <a:off x="6070420" y="3576400"/>
            <a:ext cx="2315150" cy="155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74d507314_0_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Mede a frequência do termo t dentro de um documento específico d: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Quanto mais o termo se repete no documento, maior sua importância naquele texto.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Frequência bruta: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Essa formulação </a:t>
            </a:r>
            <a:r>
              <a:rPr lang="pt-BR"/>
              <a:t>assume uma relação linear direta entre repetição e a relevância. No entanto, em processamento de texto real, essa premissa causa três problemas:</a:t>
            </a:r>
            <a:endParaRPr i="1"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A primeira ocorrência carrega o maior salto informacional: 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 salto de 0 para 1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ocorrência estabelece que o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documento aborda o tema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 O salto de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 para 2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confirma relevância temática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 Já o salto de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50 para 51 praticamente não agrega nova informação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Vulnerabilidade a textos prolixos e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keyword stuffing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Um texto com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100 repetições de um termo dominaria a busca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com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peso 100 vezes maior do que um artigo conciso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 de alto valor que cita o termo apenas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duas vezes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Monotonicidade com escala comprimida: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 função logarítmica é estritamente crescente (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x1 &gt; x2 ⇒ log(x1) &gt; log(x2)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),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garantindo 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que um documento com mais ocorrências ainda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pontue mais alto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, mas </a:t>
            </a:r>
            <a:r>
              <a:rPr b="1"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sem distorcer desproporcionalmente o espaço vetorial</a:t>
            </a:r>
            <a:r>
              <a:rPr lang="pt-BR" sz="12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2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g3f74d507314_0_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Term Frequency (TF)</a:t>
            </a:r>
            <a:r>
              <a:rPr lang="pt-BR" sz="2200">
                <a:solidFill>
                  <a:srgbClr val="B41B26"/>
                </a:solidFill>
              </a:rPr>
              <a:t> — Importância Local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190" name="Google Shape;190;g3f74d507314_0_9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968547" y="2159108"/>
            <a:ext cx="2328349" cy="4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4d507314_0_48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Mede a frequência do termo t dentro de um documento específico d: 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Quanto mais o termo se repete no documento, maior sua importância naquele texto.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Frequência bruta: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Frequência amortecida por logaritmo: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f74d507314_0_48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Term Frequency (TF)</a:t>
            </a:r>
            <a:r>
              <a:rPr lang="pt-BR" sz="2200">
                <a:solidFill>
                  <a:srgbClr val="B41B26"/>
                </a:solidFill>
              </a:rPr>
              <a:t> — Importância Local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197" name="Google Shape;197;g3f74d507314_0_48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968547" y="2159108"/>
            <a:ext cx="2328349" cy="4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f74d507314_0_48"/>
          <p:cNvPicPr preferRelativeResize="0"/>
          <p:nvPr/>
        </p:nvPicPr>
        <p:blipFill rotWithShape="1">
          <a:blip r:embed="rId4">
            <a:alphaModFix/>
          </a:blip>
          <a:srcRect b="0" l="10" r="0" t="0"/>
          <a:stretch/>
        </p:blipFill>
        <p:spPr>
          <a:xfrm>
            <a:off x="2675550" y="3308096"/>
            <a:ext cx="4914350" cy="1103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74d507314_0_55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Frequência amortecida por logaritmo: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Porque somar 1? 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Se aplicássemos apenas log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(f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t,d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), para uma ocorrência teríamos log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(1) = 0. O termo receberia peso nulo, tornando-se indistinguível de um termo com zero ocorrências (f</a:t>
            </a:r>
            <a:r>
              <a:rPr baseline="-25000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t,d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=0). A adição da constante garante que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 ocorrência ⇒ peso 1.0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g3f74d507314_0_55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Term Frequency (TF)</a:t>
            </a:r>
            <a:r>
              <a:rPr lang="pt-BR" sz="2200">
                <a:solidFill>
                  <a:srgbClr val="B41B26"/>
                </a:solidFill>
              </a:rPr>
              <a:t> — Importância Local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205" name="Google Shape;205;g3f74d507314_0_55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2844800" y="1783371"/>
            <a:ext cx="4914350" cy="11039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f74d507314_0_55"/>
          <p:cNvSpPr/>
          <p:nvPr/>
        </p:nvSpPr>
        <p:spPr>
          <a:xfrm>
            <a:off x="4412691" y="1953664"/>
            <a:ext cx="436500" cy="436500"/>
          </a:xfrm>
          <a:prstGeom prst="ellipse">
            <a:avLst/>
          </a:prstGeom>
          <a:noFill/>
          <a:ln cap="flat" cmpd="sng" w="38100">
            <a:solidFill>
              <a:srgbClr val="B41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74d507314_0_7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Frequência amortecida por logaritmo: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Porque Base 10? 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 escolha da base 10 em relação à base </a:t>
            </a:r>
            <a:r>
              <a:rPr i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(natural) ou base 2 é principalmente de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conveniência pedagógica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 e de </a:t>
            </a: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escala perceptível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Invariância de Ranking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A mudança de base de um logaritmo é apenas a multiplicação por uma constante. A Similaridade de Cosseno ou em modelos vetoriais normalizados, multiplicar os pesos por uma constante escalar não altera o ângulo entre os vetores nem a ordem final do ranqueamento.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Leitura por Ordens de Grandeza</a:t>
            </a:r>
            <a:r>
              <a:rPr lang="pt-BR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: A base 10 oferece uma interpretação intuitiva em potências de 10:</a:t>
            </a:r>
            <a:endParaRPr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Poppins"/>
              <a:buChar char="○"/>
            </a:pP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 ocorrência ⇒ 1 + log</a:t>
            </a:r>
            <a:r>
              <a:rPr baseline="-25000"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(1) = 1.0</a:t>
            </a:r>
            <a:endParaRPr sz="1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Poppins"/>
              <a:buChar char="○"/>
            </a:pP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 ocorrências ⇒ 1 + log</a:t>
            </a:r>
            <a:r>
              <a:rPr baseline="-25000"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(10) = 2.0</a:t>
            </a:r>
            <a:endParaRPr sz="1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Poppins"/>
              <a:buChar char="○"/>
            </a:pP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100 ocorrências ⇒ 1 + log</a:t>
            </a:r>
            <a:r>
              <a:rPr baseline="-25000"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(100) = 3.0</a:t>
            </a:r>
            <a:endParaRPr sz="1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000"/>
              <a:buFont typeface="Poppins"/>
              <a:buChar char="○"/>
            </a:pP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1.000 ocorrências ⇒ 1 + log</a:t>
            </a:r>
            <a:r>
              <a:rPr baseline="-25000"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(1.000) = 4.0</a:t>
            </a:r>
            <a:endParaRPr sz="1000">
              <a:solidFill>
                <a:srgbClr val="3B3B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g3f74d507314_0_7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Term Frequency (TF)</a:t>
            </a:r>
            <a:r>
              <a:rPr lang="pt-BR" sz="2200">
                <a:solidFill>
                  <a:srgbClr val="B41B26"/>
                </a:solidFill>
              </a:rPr>
              <a:t> — Importância Local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213" name="Google Shape;213;g3f74d507314_0_79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2844800" y="1783371"/>
            <a:ext cx="4914350" cy="110393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74d507314_0_79"/>
          <p:cNvSpPr/>
          <p:nvPr/>
        </p:nvSpPr>
        <p:spPr>
          <a:xfrm>
            <a:off x="5273991" y="2061314"/>
            <a:ext cx="436500" cy="436500"/>
          </a:xfrm>
          <a:prstGeom prst="ellipse">
            <a:avLst/>
          </a:prstGeom>
          <a:noFill/>
          <a:ln cap="flat" cmpd="sng" w="38100">
            <a:solidFill>
              <a:srgbClr val="B41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g3f74d507314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98600" y="3899706"/>
            <a:ext cx="1381125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74d507314_0_107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Mede o poder discriminatório do termo no conjunto completo de documentos D</a:t>
            </a:r>
            <a:r>
              <a:rPr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. Se um termo aparece em muitos documentos, ele é pouco específico e seu peso cai.</a:t>
            </a:r>
            <a:endParaRPr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 Número total de documentos na coleção (D).</a:t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Char char="●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DF</a:t>
            </a:r>
            <a:r>
              <a:rPr b="1" baseline="-25000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Document Frequency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): Número de documentos que contêm o termo </a:t>
            </a:r>
            <a:r>
              <a:rPr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1" marL="9144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400"/>
              <a:buFont typeface="Poppins"/>
              <a:buChar char="○"/>
            </a:pPr>
            <a:r>
              <a:rPr lang="pt-BR" sz="14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Se um termo aparece em todos os documentos (DF</a:t>
            </a:r>
            <a:r>
              <a:rPr baseline="-25000" lang="pt-BR" sz="14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pt-BR" sz="1400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= N) ⇒ IDF = log(1) = 0. Esse termo não contribuirá para diferenciar os documentos.</a:t>
            </a:r>
            <a:endParaRPr sz="1400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g3f74d507314_0_107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pt-BR" sz="2200">
                <a:solidFill>
                  <a:srgbClr val="B41B26"/>
                </a:solidFill>
              </a:rPr>
              <a:t>Inverse Document Frequency (IDF) — </a:t>
            </a:r>
            <a:r>
              <a:rPr lang="pt-BR" sz="2200">
                <a:solidFill>
                  <a:srgbClr val="B41B26"/>
                </a:solidFill>
              </a:rPr>
              <a:t>Importância Global</a:t>
            </a:r>
            <a:endParaRPr sz="2200">
              <a:solidFill>
                <a:srgbClr val="B41B26"/>
              </a:solidFill>
            </a:endParaRPr>
          </a:p>
        </p:txBody>
      </p:sp>
      <p:pic>
        <p:nvPicPr>
          <p:cNvPr id="222" name="Google Shape;222;g3f74d507314_0_107"/>
          <p:cNvPicPr preferRelativeResize="0"/>
          <p:nvPr/>
        </p:nvPicPr>
        <p:blipFill rotWithShape="1">
          <a:blip r:embed="rId3">
            <a:alphaModFix/>
          </a:blip>
          <a:srcRect b="0" l="10" r="10" t="0"/>
          <a:stretch/>
        </p:blipFill>
        <p:spPr>
          <a:xfrm>
            <a:off x="4331400" y="2013725"/>
            <a:ext cx="3567350" cy="9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4d507314_0_39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Formulação Matemática dos Pesos de Relevância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Term Frequency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Logarítmico (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TF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i="1" lang="pt-BR"/>
              <a:t>: Suavizar os pesos de palavras repetidas para evitar distorções.</a:t>
            </a:r>
            <a:endParaRPr i="1"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Inverse Document Frequency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IDF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):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>
                <a:latin typeface="Poppins"/>
                <a:ea typeface="Poppins"/>
                <a:cs typeface="Poppins"/>
                <a:sym typeface="Poppins"/>
              </a:rPr>
              <a:t>Objetivo</a:t>
            </a:r>
            <a:r>
              <a:rPr i="1" lang="pt-BR"/>
              <a:t>: Penalizar termos muito comuns na coleção e valoriza termos raros e específicos.</a:t>
            </a:r>
            <a:endParaRPr i="1"/>
          </a:p>
          <a:p>
            <a:pPr indent="0" lvl="0" marL="0" marR="929359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B26"/>
              </a:buClr>
              <a:buSzPts val="1600"/>
              <a:buFont typeface="Poppins"/>
              <a:buAutoNum type="arabicPeriod"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Peso Composto </a:t>
            </a:r>
            <a:r>
              <a:rPr b="1" i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TF-IDF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74d507314_0_39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Decomposição do </a:t>
            </a:r>
            <a:r>
              <a:rPr i="1" lang="pt-BR" sz="2200">
                <a:solidFill>
                  <a:srgbClr val="B41B26"/>
                </a:solidFill>
              </a:rPr>
              <a:t>Term Frequency (TF)</a:t>
            </a:r>
            <a:r>
              <a:rPr lang="pt-BR" sz="2200">
                <a:solidFill>
                  <a:srgbClr val="B41B26"/>
                </a:solidFill>
              </a:rPr>
              <a:t> e </a:t>
            </a:r>
            <a:r>
              <a:rPr i="1" lang="pt-BR" sz="2200">
                <a:solidFill>
                  <a:srgbClr val="B41B26"/>
                </a:solidFill>
              </a:rPr>
              <a:t>Inverse Document Frequency (IDF)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229" name="Google Shape;229;g3f74d507314_0_39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5534700" y="1886421"/>
            <a:ext cx="4914350" cy="1103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f74d507314_0_39"/>
          <p:cNvPicPr preferRelativeResize="0"/>
          <p:nvPr/>
        </p:nvPicPr>
        <p:blipFill rotWithShape="1">
          <a:blip r:embed="rId4">
            <a:alphaModFix/>
          </a:blip>
          <a:srcRect b="0" l="10" r="10" t="0"/>
          <a:stretch/>
        </p:blipFill>
        <p:spPr>
          <a:xfrm>
            <a:off x="6208200" y="3316425"/>
            <a:ext cx="3567350" cy="9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f74d507314_0_39"/>
          <p:cNvPicPr preferRelativeResize="0"/>
          <p:nvPr/>
        </p:nvPicPr>
        <p:blipFill rotWithShape="1">
          <a:blip r:embed="rId5">
            <a:alphaModFix/>
          </a:blip>
          <a:srcRect b="40" l="0" r="0" t="50"/>
          <a:stretch/>
        </p:blipFill>
        <p:spPr>
          <a:xfrm>
            <a:off x="5001025" y="5062506"/>
            <a:ext cx="5981700" cy="595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74d507314_0_22"/>
          <p:cNvSpPr txBox="1"/>
          <p:nvPr>
            <p:ph idx="1" type="subTitle"/>
          </p:nvPr>
        </p:nvSpPr>
        <p:spPr>
          <a:xfrm>
            <a:off x="969034" y="1468581"/>
            <a:ext cx="10292100" cy="44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pt-BR">
                <a:solidFill>
                  <a:srgbClr val="202020"/>
                </a:solidFill>
                <a:latin typeface="Poppins"/>
                <a:ea typeface="Poppins"/>
                <a:cs typeface="Poppins"/>
                <a:sym typeface="Poppins"/>
              </a:rPr>
              <a:t>Medindo o ângulo θ entre o vetor da consulta q e o vetor do documento d.</a:t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00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i="1">
              <a:solidFill>
                <a:srgbClr val="20202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Fórmula Geral</a:t>
            </a:r>
            <a:r>
              <a:rPr b="1" lang="pt-BR">
                <a:solidFill>
                  <a:srgbClr val="B41B26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>
              <a:solidFill>
                <a:srgbClr val="B41B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Ângulo 0∘</a:t>
            </a:r>
            <a:r>
              <a:rPr lang="pt-BR"/>
              <a:t> ⟹ cos(</a:t>
            </a:r>
            <a:r>
              <a:rPr lang="pt-BR"/>
              <a:t>0</a:t>
            </a:r>
            <a:r>
              <a:rPr lang="pt-BR"/>
              <a:t>∘)=1,0: Similaridade máxima.</a:t>
            </a:r>
            <a:endParaRPr/>
          </a:p>
          <a:p>
            <a:pPr indent="-330200" lvl="0" marL="45720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Ângulo 90</a:t>
            </a:r>
            <a:r>
              <a:rPr b="1" lang="pt-BR">
                <a:latin typeface="Poppins"/>
                <a:ea typeface="Poppins"/>
                <a:cs typeface="Poppins"/>
                <a:sym typeface="Poppins"/>
              </a:rPr>
              <a:t>∘</a:t>
            </a:r>
            <a:r>
              <a:rPr lang="pt-BR"/>
              <a:t> </a:t>
            </a:r>
            <a:r>
              <a:rPr lang="pt-BR"/>
              <a:t>⟹ cos</a:t>
            </a:r>
            <a:r>
              <a:rPr lang="pt-BR"/>
              <a:t>(</a:t>
            </a:r>
            <a:r>
              <a:rPr lang="pt-BR"/>
              <a:t>90∘)=0,0: Nenhuma palavra em comum (Ortogonais).</a:t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929359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74d507314_0_22"/>
          <p:cNvSpPr txBox="1"/>
          <p:nvPr>
            <p:ph idx="2" type="body"/>
          </p:nvPr>
        </p:nvSpPr>
        <p:spPr>
          <a:xfrm>
            <a:off x="969035" y="704850"/>
            <a:ext cx="832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2200">
                <a:solidFill>
                  <a:srgbClr val="B41B26"/>
                </a:solidFill>
              </a:rPr>
              <a:t>A Métrica de Similaridade de Cosseno</a:t>
            </a:r>
            <a:endParaRPr i="1" sz="2200">
              <a:solidFill>
                <a:srgbClr val="B41B26"/>
              </a:solidFill>
            </a:endParaRPr>
          </a:p>
        </p:txBody>
      </p:sp>
      <p:pic>
        <p:nvPicPr>
          <p:cNvPr id="238" name="Google Shape;238;g3f74d507314_0_22"/>
          <p:cNvPicPr preferRelativeResize="0"/>
          <p:nvPr/>
        </p:nvPicPr>
        <p:blipFill rotWithShape="1">
          <a:blip r:embed="rId3">
            <a:alphaModFix/>
          </a:blip>
          <a:srcRect b="30" l="0" r="0" t="20"/>
          <a:stretch/>
        </p:blipFill>
        <p:spPr>
          <a:xfrm>
            <a:off x="2431186" y="2618525"/>
            <a:ext cx="7367775" cy="92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2023-12-21T18:31:02Z</dcterms:created>
  <dc:creator>Ester Margotto Montebeler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0x0101008C19AB3E6619E54BB6D98946A8919BCB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