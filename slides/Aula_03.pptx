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  <p:embeddedFont>
      <p:font typeface="Poppins Extra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hC+VsCBb3UNFqM7QPcdZiLA2w9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20" Type="http://schemas.openxmlformats.org/officeDocument/2006/relationships/slide" Target="slides/slide16.xml"/><Relationship Id="rId42" Type="http://schemas.openxmlformats.org/officeDocument/2006/relationships/font" Target="fonts/PoppinsExtraLight-bold.fntdata"/><Relationship Id="rId41" Type="http://schemas.openxmlformats.org/officeDocument/2006/relationships/font" Target="fonts/PoppinsExtraLight-regular.fntdata"/><Relationship Id="rId22" Type="http://schemas.openxmlformats.org/officeDocument/2006/relationships/slide" Target="slides/slide18.xml"/><Relationship Id="rId44" Type="http://schemas.openxmlformats.org/officeDocument/2006/relationships/font" Target="fonts/PoppinsExtraLight-boldItalic.fntdata"/><Relationship Id="rId21" Type="http://schemas.openxmlformats.org/officeDocument/2006/relationships/slide" Target="slides/slide17.xml"/><Relationship Id="rId43" Type="http://schemas.openxmlformats.org/officeDocument/2006/relationships/font" Target="fonts/PoppinsExtraLight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8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11.xml"/><Relationship Id="rId37" Type="http://schemas.openxmlformats.org/officeDocument/2006/relationships/font" Target="fonts/PoppinsSemiBold-regular.fntdata"/><Relationship Id="rId14" Type="http://schemas.openxmlformats.org/officeDocument/2006/relationships/slide" Target="slides/slide10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3.xml"/><Relationship Id="rId39" Type="http://schemas.openxmlformats.org/officeDocument/2006/relationships/font" Target="fonts/PoppinsSemiBold-italic.fntdata"/><Relationship Id="rId16" Type="http://schemas.openxmlformats.org/officeDocument/2006/relationships/slide" Target="slides/slide12.xml"/><Relationship Id="rId38" Type="http://schemas.openxmlformats.org/officeDocument/2006/relationships/font" Target="fonts/PoppinsSemiBol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cfaf56c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f5cfaf56c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7949799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87949799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7949799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f87949799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7949799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f87949799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7949799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f879497993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79497993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879497993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79497993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f879497993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79497993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f879497993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7949799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f87949799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79497993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f879497993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79497993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f879497993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79497993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f879497993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79497993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f879497993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79497993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f879497993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79497993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f879497993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79497993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879497993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79497993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f879497993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79497993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f879497993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879497993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f879497993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79497993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f879497993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879497993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f879497993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d31186f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f5d31186f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Final">
  <p:cSld name="Cap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Principal">
  <p:cSld name="Cap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1400175" y="3067050"/>
            <a:ext cx="9838748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1400175" y="4638722"/>
            <a:ext cx="98387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Título e texto">
  <p:cSld name="1_Slide Título e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Texto e Imagem">
  <p:cSld name="2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969034" y="692989"/>
            <a:ext cx="5302457" cy="521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9" name="Google Shape;19;p8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Título, Texto e Imagem">
  <p:cSld name="3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969034" y="1468581"/>
            <a:ext cx="5302457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2" name="Google Shape;22;p9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Título+Texto">
  <p:cSld name="4_Slide Título+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0438" y="1468438"/>
            <a:ext cx="10280650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960439" y="676275"/>
            <a:ext cx="773588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Texto e Imagem">
  <p:cSld name="5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02020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11"/>
          <p:cNvSpPr/>
          <p:nvPr>
            <p:ph idx="2" type="pic"/>
          </p:nvPr>
        </p:nvSpPr>
        <p:spPr>
          <a:xfrm>
            <a:off x="6898844" y="1579563"/>
            <a:ext cx="4368800" cy="46545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 Título, Texto e Imagem">
  <p:cSld name="6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6898844" y="1828367"/>
            <a:ext cx="4368800" cy="440574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3" type="body"/>
          </p:nvPr>
        </p:nvSpPr>
        <p:spPr>
          <a:xfrm>
            <a:off x="887413" y="1171575"/>
            <a:ext cx="5283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 Texto, Imagem e Legenda">
  <p:cSld name="7_Slide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6898844" y="1579563"/>
            <a:ext cx="4368800" cy="368516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6899275" y="5619750"/>
            <a:ext cx="43688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 Título, Texto, Imagem e Legenda">
  <p:cSld name="8_Slide Título,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0" name="Google Shape;40;p14"/>
          <p:cNvSpPr/>
          <p:nvPr>
            <p:ph idx="2" type="pic"/>
          </p:nvPr>
        </p:nvSpPr>
        <p:spPr>
          <a:xfrm>
            <a:off x="6898844" y="1828799"/>
            <a:ext cx="4368800" cy="343592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6899275" y="5610225"/>
            <a:ext cx="43688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4" type="body"/>
          </p:nvPr>
        </p:nvSpPr>
        <p:spPr>
          <a:xfrm>
            <a:off x="887413" y="1181100"/>
            <a:ext cx="5283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 Imagens e Legendas">
  <p:cSld name="9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>
            <p:ph idx="2" type="pic"/>
          </p:nvPr>
        </p:nvSpPr>
        <p:spPr>
          <a:xfrm>
            <a:off x="913986" y="1466850"/>
            <a:ext cx="5027949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>
            <p:ph idx="3" type="pic"/>
          </p:nvPr>
        </p:nvSpPr>
        <p:spPr>
          <a:xfrm>
            <a:off x="6409523" y="1466849"/>
            <a:ext cx="4839101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914401" y="5394325"/>
            <a:ext cx="50279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409522" y="5387974"/>
            <a:ext cx="4839102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body"/>
          </p:nvPr>
        </p:nvSpPr>
        <p:spPr>
          <a:xfrm>
            <a:off x="913986" y="781050"/>
            <a:ext cx="1033463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 Imagens e Legendas">
  <p:cSld name="10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914401" y="793750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4447165" y="800893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7951369" y="793749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 Título, Imagens e Legendas">
  <p:cSld name="11_Slide Título,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>
            <p:ph idx="2" type="pic"/>
          </p:nvPr>
        </p:nvSpPr>
        <p:spPr>
          <a:xfrm>
            <a:off x="914401" y="1373982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/>
          <p:nvPr>
            <p:ph idx="3" type="pic"/>
          </p:nvPr>
        </p:nvSpPr>
        <p:spPr>
          <a:xfrm>
            <a:off x="4447165" y="1381125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7"/>
          <p:cNvSpPr/>
          <p:nvPr>
            <p:ph idx="4" type="pic"/>
          </p:nvPr>
        </p:nvSpPr>
        <p:spPr>
          <a:xfrm>
            <a:off x="7951369" y="1373981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7" type="body"/>
          </p:nvPr>
        </p:nvSpPr>
        <p:spPr>
          <a:xfrm>
            <a:off x="800100" y="762000"/>
            <a:ext cx="10448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apa Interna 01">
  <p:cSld name="12_Capa Interna 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33425" y="3752850"/>
            <a:ext cx="10725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4572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4572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4572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4572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pa Interna 02">
  <p:cSld name="13_Capa Interna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733425" y="3762375"/>
            <a:ext cx="10725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 Imagem">
  <p:cSld name="14_Slid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>
            <p:ph idx="2" type="pic"/>
          </p:nvPr>
        </p:nvSpPr>
        <p:spPr>
          <a:xfrm>
            <a:off x="914400" y="796419"/>
            <a:ext cx="10353111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 Imagem e Legenda">
  <p:cSld name="15_Slide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>
            <p:ph idx="2" type="pic"/>
          </p:nvPr>
        </p:nvSpPr>
        <p:spPr>
          <a:xfrm>
            <a:off x="914400" y="796419"/>
            <a:ext cx="10353111" cy="433755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914400" y="5394325"/>
            <a:ext cx="1035311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 Imagens">
  <p:cSld name="16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/>
          <p:nvPr>
            <p:ph idx="3" type="pic"/>
          </p:nvPr>
        </p:nvSpPr>
        <p:spPr>
          <a:xfrm>
            <a:off x="6196749" y="796418"/>
            <a:ext cx="5070763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 Imagens e Legendas">
  <p:cSld name="17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>
            <p:ph idx="2" type="pic"/>
          </p:nvPr>
        </p:nvSpPr>
        <p:spPr>
          <a:xfrm>
            <a:off x="914401" y="796419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3" type="pic"/>
          </p:nvPr>
        </p:nvSpPr>
        <p:spPr>
          <a:xfrm>
            <a:off x="6196749" y="796418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524500"/>
            <a:ext cx="50704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6196013" y="5524500"/>
            <a:ext cx="50720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 Imagens">
  <p:cSld name="18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4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Imagens">
  <p:cSld name="19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/>
          <p:nvPr>
            <p:ph idx="3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5"/>
          <p:cNvSpPr/>
          <p:nvPr>
            <p:ph idx="4" type="pic"/>
          </p:nvPr>
        </p:nvSpPr>
        <p:spPr>
          <a:xfrm>
            <a:off x="914401" y="806083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5"/>
          <p:cNvSpPr/>
          <p:nvPr>
            <p:ph idx="5" type="pic"/>
          </p:nvPr>
        </p:nvSpPr>
        <p:spPr>
          <a:xfrm>
            <a:off x="914401" y="3516964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Textos e Imagens">
  <p:cSld name="19_Slide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924489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95" name="Google Shape;95;p26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6305550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 Título, Textos e Imagens">
  <p:cSld name="20_Slide Título,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924489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0" name="Google Shape;100;p27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/>
          <p:nvPr>
            <p:ph idx="4" type="body"/>
          </p:nvPr>
        </p:nvSpPr>
        <p:spPr>
          <a:xfrm>
            <a:off x="6305550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5" type="body"/>
          </p:nvPr>
        </p:nvSpPr>
        <p:spPr>
          <a:xfrm>
            <a:off x="828675" y="762000"/>
            <a:ext cx="10439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 Imagens">
  <p:cSld name="21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914401" y="79641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>
            <p:ph idx="4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8"/>
          <p:cNvSpPr/>
          <p:nvPr>
            <p:ph idx="5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>
            <p:ph idx="6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 Imagens">
  <p:cSld name="22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>
            <p:ph idx="2" type="pic"/>
          </p:nvPr>
        </p:nvSpPr>
        <p:spPr>
          <a:xfrm>
            <a:off x="914401" y="796419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/>
          <p:nvPr>
            <p:ph idx="3" type="pic"/>
          </p:nvPr>
        </p:nvSpPr>
        <p:spPr>
          <a:xfrm>
            <a:off x="4447165" y="803562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9"/>
          <p:cNvSpPr/>
          <p:nvPr>
            <p:ph idx="4" type="pic"/>
          </p:nvPr>
        </p:nvSpPr>
        <p:spPr>
          <a:xfrm>
            <a:off x="7951369" y="796418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9"/>
          <p:cNvSpPr/>
          <p:nvPr>
            <p:ph idx="5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/>
          <p:nvPr>
            <p:ph idx="6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9"/>
          <p:cNvSpPr/>
          <p:nvPr>
            <p:ph idx="7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23.png"/><Relationship Id="rId5" Type="http://schemas.openxmlformats.org/officeDocument/2006/relationships/image" Target="../media/image3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jpg"/><Relationship Id="rId4" Type="http://schemas.openxmlformats.org/officeDocument/2006/relationships/image" Target="../media/image34.jpg"/><Relationship Id="rId5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title"/>
          </p:nvPr>
        </p:nvSpPr>
        <p:spPr>
          <a:xfrm>
            <a:off x="1400175" y="2790825"/>
            <a:ext cx="98388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</a:pPr>
            <a:r>
              <a:rPr lang="pt-BR" sz="4200">
                <a:solidFill>
                  <a:srgbClr val="202020"/>
                </a:solidFill>
              </a:rPr>
              <a:t>PLN e Sistemas de Recuperação de Informação</a:t>
            </a:r>
            <a:endParaRPr sz="4200">
              <a:solidFill>
                <a:srgbClr val="202020"/>
              </a:solidFill>
            </a:endParaRPr>
          </a:p>
        </p:txBody>
      </p:sp>
      <p:sp>
        <p:nvSpPr>
          <p:cNvPr id="125" name="Google Shape;125;p1"/>
          <p:cNvSpPr txBox="1"/>
          <p:nvPr>
            <p:ph idx="1" type="body"/>
          </p:nvPr>
        </p:nvSpPr>
        <p:spPr>
          <a:xfrm>
            <a:off x="1400200" y="40673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Aula 03 - </a:t>
            </a:r>
            <a:r>
              <a:rPr lang="pt-BR" sz="2100">
                <a:solidFill>
                  <a:srgbClr val="202020"/>
                </a:solidFill>
              </a:rPr>
              <a:t>Da Intuição do TF-IDF à Engenharia do Okapi BM25 e Semântica Latente (LSA)</a:t>
            </a:r>
            <a:endParaRPr sz="2000">
              <a:solidFill>
                <a:srgbClr val="202020"/>
              </a:solidFill>
            </a:endParaRPr>
          </a:p>
        </p:txBody>
      </p:sp>
      <p:sp>
        <p:nvSpPr>
          <p:cNvPr id="126" name="Google Shape;126;p1"/>
          <p:cNvSpPr txBox="1"/>
          <p:nvPr>
            <p:ph idx="1" type="body"/>
          </p:nvPr>
        </p:nvSpPr>
        <p:spPr>
          <a:xfrm>
            <a:off x="1400200" y="59638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Prof. Dr. Wagner de A. Perin</a:t>
            </a:r>
            <a:endParaRPr sz="20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cfaf56cc_0_4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Em um e-commerce e central de suporte com 500.000 itens, o sistema de busca tradicional baseado em TF-IDF puro gera perdas financeiras causadas por problemas no rankeamento dos itens.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Dois Sintomas Críticos Diagnosticados: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Distorção de Prolixidade</a:t>
            </a:r>
            <a:r>
              <a:rPr lang="pt-BR"/>
              <a:t>: Um manual de 80 páginas que repete a palavra "garantia" 30 vezes em notas de rodapé fica em 1º lugar, enquanto um guia objetivo de 1 página fica na 45ª posição.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Cegueira para Sinônimos</a:t>
            </a:r>
            <a:r>
              <a:rPr lang="pt-BR"/>
              <a:t>: A busca por "computador portátil" retorna zero resultados porque o produto está cadastrado como "notebook".</a:t>
            </a:r>
            <a:endParaRPr/>
          </a:p>
        </p:txBody>
      </p:sp>
      <p:sp>
        <p:nvSpPr>
          <p:cNvPr id="132" name="Google Shape;132;g3f5cfaf56cc_0_4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 e Suporte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79497993_0_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Tentativa 1  - Premissa Intuitiva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Quanto mais vezes um termo aparece no documento, mais provável é que o texto seja sobre ele.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Abordagem Mais Simples Possível: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a Tentativa 1 Falha Tragicamente?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Problema das 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Filler Words</a:t>
            </a:r>
            <a:r>
              <a:rPr lang="pt-BR">
                <a:solidFill>
                  <a:srgbClr val="3B3B3B"/>
                </a:solidFill>
              </a:rPr>
              <a:t>: Palavras comuns ("e", "de", "para") dominam o score acumulado.</a:t>
            </a:r>
            <a:endParaRPr>
              <a:solidFill>
                <a:srgbClr val="3B3B3B"/>
              </a:solidFill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Cenário Real</a:t>
            </a:r>
            <a:r>
              <a:rPr lang="pt-BR">
                <a:solidFill>
                  <a:srgbClr val="3B3B3B"/>
                </a:solidFill>
              </a:rPr>
              <a:t>: Em uma busca por "elefantes e vacas", o documento mais relevante não será aquele que fala sobre animais, mas sim aquele com 10.000 ocorrências da palavra "e".</a:t>
            </a:r>
            <a:endParaRPr>
              <a:solidFill>
                <a:srgbClr val="3B3B3B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879497993_0_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Construindo um Motor do Zero: Frequência Bruta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39" name="Google Shape;139;g3f879497993_0_6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4002775" y="3478306"/>
            <a:ext cx="4186428" cy="63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79497993_0_1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Tentativas 2 e 3: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Busca por uma Medida de Raridade: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uma palavra aparece em quase todos os documentos, sua presença perde o valor informativo.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Tentativa 2 (TF/DFt):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Falha: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DFt = 100 não informa nada sem a escala total da base (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 Em 100 documentos é universal; em 1 milhão de documentos é raro.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Tentativa 3 (TF x (N/DFt))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Falha de Sensibilidade Desproporcional: </a:t>
            </a:r>
            <a:r>
              <a:rPr lang="pt-BR">
                <a:solidFill>
                  <a:srgbClr val="3B3B3B"/>
                </a:solidFill>
              </a:rPr>
              <a:t>Em uma coleção de N = 100 documentos:</a:t>
            </a:r>
            <a:endParaRPr>
              <a:solidFill>
                <a:srgbClr val="3B3B3B"/>
              </a:solidFill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○"/>
            </a:pPr>
            <a:r>
              <a:rPr lang="pt-BR" sz="1600">
                <a:solidFill>
                  <a:srgbClr val="3B3B3B"/>
                </a:solidFill>
              </a:rPr>
              <a:t>Se DF=1 ⟹ N/DF = 100.</a:t>
            </a:r>
            <a:endParaRPr sz="1600">
              <a:solidFill>
                <a:srgbClr val="3B3B3B"/>
              </a:solidFill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○"/>
            </a:pPr>
            <a:r>
              <a:rPr lang="pt-BR" sz="1600">
                <a:solidFill>
                  <a:srgbClr val="3B3B3B"/>
                </a:solidFill>
              </a:rPr>
              <a:t>Se DF=2 ⟹ N/DF = 50.</a:t>
            </a:r>
            <a:endParaRPr sz="1600">
              <a:solidFill>
                <a:srgbClr val="3B3B3B"/>
              </a:solidFill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lang="pt-BR">
                <a:solidFill>
                  <a:srgbClr val="3B3B3B"/>
                </a:solidFill>
              </a:rPr>
              <a:t>Uma única menção adicional na base corta a relevância do termo pela metade!</a:t>
            </a:r>
            <a:endParaRPr>
              <a:solidFill>
                <a:srgbClr val="3B3B3B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879497993_0_1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Penalizando Palavras Comuns (DF e N/DF)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79497993_0_20"/>
          <p:cNvSpPr txBox="1"/>
          <p:nvPr>
            <p:ph idx="1" type="subTitle"/>
          </p:nvPr>
        </p:nvSpPr>
        <p:spPr>
          <a:xfrm>
            <a:off x="969025" y="1468575"/>
            <a:ext cx="63495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Tentativas 4: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Solução Clássica: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Amortecer a queda da curva de frequência documental aplicando o Logaritmo.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1" name="Google Shape;151;g3f879497993_0_2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Suavização Logarítmica e o </a:t>
            </a:r>
            <a:r>
              <a:rPr i="1" lang="pt-BR" sz="2200">
                <a:solidFill>
                  <a:srgbClr val="B41B26"/>
                </a:solidFill>
              </a:rPr>
              <a:t>TF-IDF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152" name="Google Shape;152;g3f879497993_0_20"/>
          <p:cNvPicPr preferRelativeResize="0"/>
          <p:nvPr/>
        </p:nvPicPr>
        <p:blipFill rotWithShape="1">
          <a:blip r:embed="rId3">
            <a:alphaModFix/>
          </a:blip>
          <a:srcRect b="40" l="0" r="0" t="50"/>
          <a:stretch/>
        </p:blipFill>
        <p:spPr>
          <a:xfrm>
            <a:off x="1376225" y="2759806"/>
            <a:ext cx="5991245" cy="64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879497993_0_20" title="applying_log_to_id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7475" y="1576925"/>
            <a:ext cx="4676324" cy="32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879497993_0_20"/>
          <p:cNvSpPr txBox="1"/>
          <p:nvPr>
            <p:ph idx="1" type="subTitle"/>
          </p:nvPr>
        </p:nvSpPr>
        <p:spPr>
          <a:xfrm>
            <a:off x="969025" y="4384200"/>
            <a:ext cx="110748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aplicação do log(N/DF) suaviza variações bruscas em DF baixos e zera termos universais (DF=N⟹log(1)=0).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79497993_0_30"/>
          <p:cNvSpPr txBox="1"/>
          <p:nvPr>
            <p:ph idx="1" type="subTitle"/>
          </p:nvPr>
        </p:nvSpPr>
        <p:spPr>
          <a:xfrm>
            <a:off x="969025" y="1468575"/>
            <a:ext cx="103041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Pergunta Crítica: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um documento contém 200 menções de 'elefante', ele é realmente duas vezes mais relevante que um documento com 100 menções?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60" name="Google Shape;160;g3f879497993_0_3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Onde o TF-IDF Para: </a:t>
            </a:r>
            <a:r>
              <a:rPr b="0" lang="pt-BR" sz="2200">
                <a:solidFill>
                  <a:srgbClr val="B41B26"/>
                </a:solidFill>
              </a:rPr>
              <a:t>A Necessidade do BM25</a:t>
            </a:r>
            <a:endParaRPr b="0" sz="2200">
              <a:solidFill>
                <a:srgbClr val="B41B26"/>
              </a:solidFill>
            </a:endParaRPr>
          </a:p>
        </p:txBody>
      </p:sp>
      <p:sp>
        <p:nvSpPr>
          <p:cNvPr id="161" name="Google Shape;161;g3f879497993_0_30"/>
          <p:cNvSpPr txBox="1"/>
          <p:nvPr>
            <p:ph idx="1" type="subTitle"/>
          </p:nvPr>
        </p:nvSpPr>
        <p:spPr>
          <a:xfrm>
            <a:off x="969025" y="2672200"/>
            <a:ext cx="110748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As duas barreiras que o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TF-IDF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não resolve: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AutoNum type="arabicPeriod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Falta de Saturação: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Na cognição humana, após 5 ou 10 menções de um termo, o documento já está saturado com o tema. Menções adicionais trazem ganho marginal decrescente.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AutoNum type="arabicPeriod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Viés de Comprimento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Documentos longos têm mais espaço físico para acumular repetições sem necessariamente serem mais focados.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Missão do BM25 (Best Matching 25)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Refinar o TF e o IDF através do emprego de parâmetros ajustáveis (k</a:t>
            </a:r>
            <a:r>
              <a:rPr baseline="-25000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e b).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79497993_0_38"/>
          <p:cNvSpPr txBox="1"/>
          <p:nvPr>
            <p:ph idx="1" type="subTitle"/>
          </p:nvPr>
        </p:nvSpPr>
        <p:spPr>
          <a:xfrm>
            <a:off x="969025" y="1468575"/>
            <a:ext cx="103041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Truque Central do BM25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Substituir a contagem linear de TF pela função assintótica: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Para K</a:t>
            </a:r>
            <a:r>
              <a:rPr baseline="-25000" lang="pt-BR"/>
              <a:t>1</a:t>
            </a:r>
            <a:r>
              <a:rPr lang="pt-BR"/>
              <a:t> =1, a sequência f</a:t>
            </a:r>
            <a:r>
              <a:rPr baseline="-25000" lang="pt-BR"/>
              <a:t>t,d</a:t>
            </a:r>
            <a:r>
              <a:rPr lang="pt-BR"/>
              <a:t>=1,2,3,4… gera scores 1/2,2/3,3/4,4/5→1,0.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O parâmetro k</a:t>
            </a:r>
            <a:r>
              <a:rPr baseline="-25000" lang="pt-BR"/>
              <a:t>1</a:t>
            </a:r>
            <a:r>
              <a:rPr lang="pt-BR"/>
              <a:t>  controla a velocidade de saturação (padrão Lucene: k</a:t>
            </a:r>
            <a:r>
              <a:rPr baseline="-25000" lang="pt-BR"/>
              <a:t>1</a:t>
            </a:r>
            <a:r>
              <a:rPr lang="pt-BR"/>
              <a:t> = 1.2 a 2.0).</a:t>
            </a:r>
            <a:endParaRPr/>
          </a:p>
        </p:txBody>
      </p:sp>
      <p:sp>
        <p:nvSpPr>
          <p:cNvPr id="167" name="Google Shape;167;g3f879497993_0_3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Engenharia do BM25 - Passo 1: </a:t>
            </a:r>
            <a:r>
              <a:rPr b="0" lang="pt-BR" sz="2200">
                <a:solidFill>
                  <a:srgbClr val="B41B26"/>
                </a:solidFill>
              </a:rPr>
              <a:t>Saturação de Termos (K</a:t>
            </a:r>
            <a:r>
              <a:rPr b="0" baseline="-25000" lang="pt-BR" sz="2200">
                <a:solidFill>
                  <a:srgbClr val="B41B26"/>
                </a:solidFill>
              </a:rPr>
              <a:t>1</a:t>
            </a:r>
            <a:r>
              <a:rPr b="0" lang="pt-BR" sz="2200">
                <a:solidFill>
                  <a:srgbClr val="B41B26"/>
                </a:solidFill>
              </a:rPr>
              <a:t>)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68" name="Google Shape;168;g3f879497993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375" y="1788575"/>
            <a:ext cx="624399" cy="44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f879497993_0_38" title="tf_satur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075" y="1788563"/>
            <a:ext cx="7438674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f879497993_0_38"/>
          <p:cNvPicPr preferRelativeResize="0"/>
          <p:nvPr/>
        </p:nvPicPr>
        <p:blipFill rotWithShape="1">
          <a:blip r:embed="rId5">
            <a:alphaModFix/>
          </a:blip>
          <a:srcRect b="0" l="10" r="10" t="0"/>
          <a:stretch/>
        </p:blipFill>
        <p:spPr>
          <a:xfrm>
            <a:off x="1178831" y="2895675"/>
            <a:ext cx="2717400" cy="73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79497993_0_6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Uma Propriedade Elegante: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saturação premia naturalmente documentos que cobrem múltiplos termos da consulta.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Simulação de Caso (k</a:t>
            </a:r>
            <a:r>
              <a:rPr b="1" baseline="-25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= 1, Consulta: "contrato rescisão"):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Documento A: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 menção de "contrato" e 1 menção de "rescisão".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Documento B: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2 menções de "contrato" e 0 de "rescisão".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Conclusão</a:t>
            </a:r>
            <a:r>
              <a:rPr lang="pt-BR"/>
              <a:t>: No TF bruto ambos empatariam com 2 palavras. No BM25, o documento com cobertura completa vence por 1.00 vs 0.67!</a:t>
            </a:r>
            <a:endParaRPr/>
          </a:p>
        </p:txBody>
      </p:sp>
      <p:sp>
        <p:nvSpPr>
          <p:cNvPr id="176" name="Google Shape;176;g3f879497993_0_6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Efeito Multitermo da Saturação do BM25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77" name="Google Shape;177;g3f879497993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138" y="3330506"/>
            <a:ext cx="4067174" cy="563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f879497993_0_62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3632538" y="4331656"/>
            <a:ext cx="3000375" cy="486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79497993_0_6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que é um documento longo?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Usamos o referencial da base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a razão dl/adl.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dl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Comprimento do documento avaliado (ld|).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adl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Comprimento médio dos documentos na coleção (∣d</a:t>
            </a:r>
            <a:r>
              <a:rPr baseline="-25000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avg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∣).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Ajuste Dinâmico de Saturação via Comprimento: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o documento for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mais longo que a média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(dl/adl &gt; 1), aumentamos o k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efetivo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⟹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 saturação fica mais lenta e o score é penalizado.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o documento for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mais curto que a média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(dl/adl &lt; 1), reduzimos o k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efetivo ⟹ atinge a saturação mais rápido e o score é impulsionado.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f879497993_0_6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Engenharia do BM25 - Passo 2: </a:t>
            </a:r>
            <a:r>
              <a:rPr b="0" lang="pt-BR" sz="2200">
                <a:solidFill>
                  <a:srgbClr val="B41B26"/>
                </a:solidFill>
              </a:rPr>
              <a:t>Normalização por Comprimento (dl/adl)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79497993_0_76"/>
          <p:cNvSpPr txBox="1"/>
          <p:nvPr>
            <p:ph idx="1" type="subTitle"/>
          </p:nvPr>
        </p:nvSpPr>
        <p:spPr>
          <a:xfrm>
            <a:off x="969024" y="1468575"/>
            <a:ext cx="45963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Nem todo acervo exige a mesma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penalização de tamanho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O parâmetro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b∈ [0,1] calibra essa intensidade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b=1 ⟹ penalização proporcional pura por tamanho 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dl/adl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b=0 ⟹ tamanho do documento é completamente ignorado.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Padrão da Indústria: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b = 0.75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g3f879497993_0_7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Engenharia do BM25 - Passo 3: </a:t>
            </a:r>
            <a:r>
              <a:rPr b="0" lang="pt-BR" sz="2200">
                <a:solidFill>
                  <a:srgbClr val="B41B26"/>
                </a:solidFill>
              </a:rPr>
              <a:t>Parametrizando com b ("</a:t>
            </a:r>
            <a:r>
              <a:rPr b="0" i="1" lang="pt-BR" sz="2200">
                <a:solidFill>
                  <a:srgbClr val="B41B26"/>
                </a:solidFill>
              </a:rPr>
              <a:t>Fancy TF</a:t>
            </a:r>
            <a:r>
              <a:rPr b="0" lang="pt-BR" sz="2200">
                <a:solidFill>
                  <a:srgbClr val="B41B26"/>
                </a:solidFill>
              </a:rPr>
              <a:t>")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91" name="Google Shape;191;g3f879497993_0_76" title="doc_leng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350" y="1209746"/>
            <a:ext cx="6538724" cy="3480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ere a cor de fundo para #ededed e a fonte para preto #000" id="192" name="Google Shape;192;g3f879497993_0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137" y="2970073"/>
            <a:ext cx="3276076" cy="58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79497993_0_9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Fórmula Definitiva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Term Frequency 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no Okapi BM25: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O termo multiplicativo (</a:t>
            </a:r>
            <a:r>
              <a:rPr i="1" lang="pt-BR"/>
              <a:t>k</a:t>
            </a:r>
            <a:r>
              <a:rPr baseline="-25000" i="1" lang="pt-BR"/>
              <a:t>1</a:t>
            </a:r>
            <a:r>
              <a:rPr i="1" lang="pt-BR"/>
              <a:t>+1</a:t>
            </a:r>
            <a:r>
              <a:rPr lang="pt-BR"/>
              <a:t>) no numerador atua como constante de calibração para que </a:t>
            </a:r>
            <a:r>
              <a:rPr i="1" lang="pt-BR"/>
              <a:t>TF = 1</a:t>
            </a:r>
            <a:r>
              <a:rPr lang="pt-BR"/>
              <a:t> em um documento médio tenha peso 1.</a:t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Resumo dos Dois Botões de Ajuste: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k</a:t>
            </a:r>
            <a:r>
              <a:rPr baseline="-25000" lang="pt-BR"/>
              <a:t>1</a:t>
            </a:r>
            <a:r>
              <a:rPr lang="pt-BR"/>
              <a:t> : Controla a curvatura de saturação da frequência de termos.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b: Controla o impacto da penalização por tamanho de documento.</a:t>
            </a:r>
            <a:endParaRPr/>
          </a:p>
        </p:txBody>
      </p:sp>
      <p:sp>
        <p:nvSpPr>
          <p:cNvPr id="198" name="Google Shape;198;g3f879497993_0_9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"Fancy TF" Consolidado do Okapi BM25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99" name="Google Shape;199;g3f879497993_0_9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4236288" y="2079031"/>
            <a:ext cx="3757574" cy="63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79497993_0_10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Fórmula de Robertson-Spärck Jones e o Ajuste do Lucene para Evitar Scores Negativos: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Fórmula Teórica Original gera scores</a:t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negativos para DF &gt; N/2:</a:t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Fórmula Adotada no Lucene / Elasticsearch:</a:t>
            </a:r>
            <a:endParaRPr/>
          </a:p>
          <a:p>
            <a:pPr indent="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879497993_0_10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Engenharia do BM25 - Passo 4: </a:t>
            </a:r>
            <a:r>
              <a:rPr b="0" lang="pt-BR" sz="2200">
                <a:solidFill>
                  <a:srgbClr val="B41B26"/>
                </a:solidFill>
              </a:rPr>
              <a:t>O </a:t>
            </a:r>
            <a:r>
              <a:rPr b="0" i="1" lang="pt-BR" sz="2200">
                <a:solidFill>
                  <a:srgbClr val="B41B26"/>
                </a:solidFill>
              </a:rPr>
              <a:t>IDF </a:t>
            </a:r>
            <a:r>
              <a:rPr b="0" lang="pt-BR" sz="2200">
                <a:solidFill>
                  <a:srgbClr val="B41B26"/>
                </a:solidFill>
              </a:rPr>
              <a:t>Probabilístico do Lucene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06" name="Google Shape;206;g3f879497993_0_104" title="probabilistic_i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225" y="1853100"/>
            <a:ext cx="5306624" cy="24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f879497993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325" y="2899996"/>
            <a:ext cx="2536475" cy="6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f879497993_0_104"/>
          <p:cNvPicPr preferRelativeResize="0"/>
          <p:nvPr/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314063" y="3888931"/>
            <a:ext cx="5496996" cy="64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79497993_0_12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Decodificando o </a:t>
            </a:r>
            <a:r>
              <a:rPr b="1" i="1" lang="pt-BR">
                <a:latin typeface="Poppins"/>
                <a:ea typeface="Poppins"/>
                <a:cs typeface="Poppins"/>
                <a:sym typeface="Poppins"/>
              </a:rPr>
              <a:t>Lucene Explain Output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: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score = idf * tf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onde idf = log(1 + (N - n + 0.5)/(n + 0.5))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onde tf = freq / (freq + k1 * (1 - b + b * dl / avgdl))</a:t>
            </a:r>
            <a:endParaRPr/>
          </a:p>
        </p:txBody>
      </p:sp>
      <p:sp>
        <p:nvSpPr>
          <p:cNvPr id="214" name="Google Shape;214;g3f879497993_0_12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Equação Completa do Okapi BM25 Desmistificada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15" name="Google Shape;215;g3f879497993_0_125" title="bm25_demyst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500" y="1468573"/>
            <a:ext cx="8372001" cy="36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79497993_0_14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comum que persiste: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Por que modelos estritamente léxicos (TF-IDF e BM25) falham diante de sinônimos e variações de catálogo?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Considere a consulta do usuário: 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q = "notebook i7"</a:t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Conclusão Trágica: 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acessório irrelevante (Doc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 vence 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produto ideal (Doc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 simplesmente 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porque repetiu a palavra "notebook",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enquanto "laptop" e "computador 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portátil" foram ignorados!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f879497993_0_14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Barreira Semântica: </a:t>
            </a:r>
            <a:r>
              <a:rPr b="0" lang="pt-BR" sz="2200">
                <a:solidFill>
                  <a:srgbClr val="B41B26"/>
                </a:solidFill>
              </a:rPr>
              <a:t>Demonstração da Falha dos Modelos </a:t>
            </a:r>
            <a:r>
              <a:rPr b="0" lang="pt-BR" sz="2200">
                <a:solidFill>
                  <a:srgbClr val="B41B26"/>
                </a:solidFill>
              </a:rPr>
              <a:t>Lexicais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22" name="Google Shape;222;g3f879497993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040" y="2352450"/>
            <a:ext cx="6937309" cy="40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79497993_0_147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Do Latim 'latens' = 'oculto, subjacente, não visível diretamente na superfície'.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Premissa Fundamental: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Palavras não são a informação em si; elas são apenas códigos superficiais que os humanos usam para expressar Conceitos Ocultos (Tópicos Subjacentes).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texto bruto opera no Espaço Observável (palavras exatas). O raciocínio semântico opera no Espaço Latente (ideias e significados).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Porque Fazem Sentido em PLN/RI?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Sinonímia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Mapear "notebook", "laptop" e "computador portátil" para o mesmo conceito latente: C1 =[Computação Móvel].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Polissemia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Desambiguar palavras idênticas pelo contexto latente ("banco de dados" → C2 [Tecnologia], "banco do brasil" → C3[Finanças]).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Redução de Ruído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Compactar 50.000 eixos esparsos em k ≈ 50 a 300 dimensões conceituais densas.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f879497993_0_14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que é um Espaço Latente?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79497993_0_17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transformar eixos ortogonais independentes em dimensões conceituais contínuas.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Mágica da Coocorrência: </a:t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Documentos que usam "notebook" e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"laptop" frequentemente mencionam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"tela", "bateria", "teclado" e "RAM".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álgebra detecta esse padrão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estatístico e aproxima os dois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termos no espaço latente!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f879497993_0_17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Transição Algébrica: </a:t>
            </a:r>
            <a:r>
              <a:rPr b="0" lang="pt-BR" sz="2200">
                <a:solidFill>
                  <a:srgbClr val="B41B26"/>
                </a:solidFill>
              </a:rPr>
              <a:t>Do Espaço de Palavras ao Espaço de Conceitos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35" name="Google Shape;235;g3f879497993_0_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813" y="1835375"/>
            <a:ext cx="6435579" cy="444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79497993_0_177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Fundamentação Matemática da LSA (Latent Semantic Analysis):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Fatoração em Três Matrizes.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Matriz ortogonal dos vetores singulares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à esquerda (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peso de cada palavra em cada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conceito latente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Sigma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Matriz diagonal dos valores singulares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ordenados. (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importância global de cada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V^T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Matriz ortogonal dos vetores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singulares à direita (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mistura de conceitos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presentes em cada documento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f879497993_0_17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Como a Álgebra Constrói o Espaço Latente: </a:t>
            </a:r>
            <a:r>
              <a:rPr b="0" lang="pt-BR" sz="2200">
                <a:solidFill>
                  <a:srgbClr val="B41B26"/>
                </a:solidFill>
              </a:rPr>
              <a:t>Decomposição SVD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42" name="Google Shape;242;g3f879497993_0_177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1433188" y="2195444"/>
            <a:ext cx="3997015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879497993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700" y="2002500"/>
            <a:ext cx="5539726" cy="40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79497993_0_18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Coração da LSA: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Retendo apenas os k maiores conceitos e descartando o ruído.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Teorema de Eckart-Young-Mirsky: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○"/>
            </a:pP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aseline="-25000"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é a melhor aproximação possível de posto k da matriz original A sob a </a:t>
            </a:r>
            <a:r>
              <a:rPr b="1"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norma de Frobenius</a:t>
            </a: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i="1" sz="16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Preenchimento Semântico: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○"/>
            </a:pP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Posições que eram estritamente 0 na matriz original recebem pesos fracionários positivos em A</a:t>
            </a:r>
            <a:r>
              <a:rPr baseline="-25000"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quando as palavras co-ocorrem em contextos similares!</a:t>
            </a:r>
            <a:endParaRPr i="1" sz="16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f879497993_0_18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Redução de Rank K (A</a:t>
            </a:r>
            <a:r>
              <a:rPr baseline="-25000" lang="pt-BR" sz="2200">
                <a:solidFill>
                  <a:srgbClr val="B41B26"/>
                </a:solidFill>
              </a:rPr>
              <a:t>k</a:t>
            </a:r>
            <a:r>
              <a:rPr lang="pt-BR" sz="2200">
                <a:solidFill>
                  <a:srgbClr val="B41B26"/>
                </a:solidFill>
              </a:rPr>
              <a:t>​ ) e o Teorema de Eckart-Young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50" name="Google Shape;250;g3f879497993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0363" y="1929506"/>
            <a:ext cx="3771274" cy="64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79497993_0_19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o usuário faz a busca dentro do Espaço Latente k-dimensional.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AutoNum type="arabicPeriod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Projeção da Consulta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no Espaço de Conceitos: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AutoNum type="arabicPeriod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Representação dos Documentos no Espaço Latente: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AutoNum type="arabicPeriod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Cálculo da Similaridade de Cosseno Latente: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: A consulta "notebook i7" agora tem alta similaridade de cosseno com o Doc</a:t>
            </a:r>
            <a:r>
              <a:rPr baseline="-25000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("laptop i7"), pois ambos compartilham os mesmos componentes no vetor latente R</a:t>
            </a:r>
            <a:r>
              <a:rPr baseline="30000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g3f879497993_0_19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Projetando Consultas e Calculando a Similaridade no Espaço Latente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57" name="Google Shape;257;g3f879497993_0_193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3622325" y="2317081"/>
            <a:ext cx="3020795" cy="64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f879497993_0_193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3431638" y="3253731"/>
            <a:ext cx="3402171" cy="64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f879497993_0_193"/>
          <p:cNvPicPr preferRelativeResize="0"/>
          <p:nvPr/>
        </p:nvPicPr>
        <p:blipFill rotWithShape="1">
          <a:blip r:embed="rId5">
            <a:alphaModFix/>
          </a:blip>
          <a:srcRect b="0" l="0" r="0" t="10"/>
          <a:stretch/>
        </p:blipFill>
        <p:spPr>
          <a:xfrm>
            <a:off x="2946738" y="4267288"/>
            <a:ext cx="4371974" cy="99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79497993_0_20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Tabela Comparativa de Arquiteturas de Busca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65" name="Google Shape;265;g3f879497993_0_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26" y="1985750"/>
            <a:ext cx="11371749" cy="28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879497993_0_21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Tomada de Decisão: </a:t>
            </a:r>
            <a:r>
              <a:rPr b="0" lang="pt-BR" sz="2200">
                <a:solidFill>
                  <a:srgbClr val="B41B26"/>
                </a:solidFill>
              </a:rPr>
              <a:t>A Arquitetura Two-Stage Retrieval</a:t>
            </a:r>
            <a:endParaRPr b="0" sz="2200">
              <a:solidFill>
                <a:srgbClr val="B41B26"/>
              </a:solidFill>
            </a:endParaRPr>
          </a:p>
        </p:txBody>
      </p:sp>
      <p:sp>
        <p:nvSpPr>
          <p:cNvPr id="271" name="Google Shape;271;g3f879497993_0_21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Padrão de Engenharia Adotado por Google, Amazon e Mercado Livre.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Por que combinar os dois?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○"/>
            </a:pP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BM25 filtra rapidamente milhões de documentos eliminando o que não tem relação textual.</a:t>
            </a:r>
            <a:endParaRPr i="1" sz="16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○"/>
            </a:pPr>
            <a:r>
              <a:rPr i="1" lang="pt-BR" sz="16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modelo semântico atua apenas sobre o conjunto refinado, eliminando gargalos de CPU.</a:t>
            </a:r>
            <a:endParaRPr i="1" sz="16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Altere a cor de fundo para #ededed e a fonte para preto #000" id="272" name="Google Shape;272;g3f879497993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8766"/>
            <a:ext cx="12192000" cy="1023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79497993_0_22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Conclusão Executiva e Checklist de Fixação</a:t>
            </a:r>
            <a:endParaRPr b="0" sz="2200">
              <a:solidFill>
                <a:srgbClr val="B41B26"/>
              </a:solidFill>
            </a:endParaRPr>
          </a:p>
        </p:txBody>
      </p:sp>
      <p:sp>
        <p:nvSpPr>
          <p:cNvPr id="278" name="Google Shape;278;g3f879497993_0_22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18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Checklist do Cientista de Dados para Negócios:</a:t>
            </a:r>
            <a:endParaRPr b="1" sz="18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✓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Saber derivar a necessidade do TF-IDF a partir das 4 tentativas heurísticas.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✓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Dominar o papel dos parâmetros k</a:t>
            </a:r>
            <a:r>
              <a:rPr baseline="-25000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(saturação) e b (comprimento) no BM25.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✓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Demonstrar por que modelos léxicos falham diante de sinônimos com o exemplo "notebook i7".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✓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Compreender o conceito de Espaço Latente e a transição algébrica via SVD/LSA.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✓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Projetar arquiteturas em duas etapas 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Two-Stage Retrieval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 equilibrando performance e semântica.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2023-12-21T18:31:02Z</dcterms:created>
  <dc:creator>Ester Margotto Montebeler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0x0101008C19AB3E6619E54BB6D98946A8919BCB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